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Ministry, HISP Ethiopia colleagues and technical leads. This review is based on a line-by-line analysis of the actual production codebase -- every claim in this deck traces back to a specific file. Introduce yourself and the purpose: give confidence in the architecture, be transparent about security posture, and lay out a concrete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Presentation Roadmap -- Architecture  →  Application Flow  →  Security  →  Offline &amp; Sync  →  Quality  →  Roadmap. Use this as a pause point to check the room before moving into the next block of material.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slide to remember if nothing else lands: the app is architecturally sound, already offline-capable in production, and the security gaps are known, bounded, and fixable before a national-scale rollout. Everything after this slide is the evidence for that claim, drawn directly from the codebase -- not from documentation or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briefly. Signal that the security section will be candid about gaps -- this builds more trust with a Ministry audience than a slide that only shows green checkmarks.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audience in the 'why' before the 'how'. Ethiopia's health facilities have real, frequent connectivity gaps -- offline-first isn't a nice-to-have here, it's the entire design constraint that shaped every architectural decision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here is copied directly from pubspec.yaml -- no assumptions. Worth noting for a technical audience: no proprietary or unusual dependencies, everything is a mainstream, actively-maintained package in the Flutter ecosystem.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architectural spine of the app. Point at the arrows: Presentation depends on Domain, Data implements Domain's contracts, Core is shared infrastructure everyone can use. The critical property is that Domain (business rules) has zero dependency on Flutter, Dio, or Drift -- we verified this by reading the actual import statements in files like lib/features/auth/domain/repositories/auth_repository.dart. That means the business logic could be tested, or even reused, completely independent of the UI framework or the database technology.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'why' a Ministry reviewer will ask: why not just one big app? Each layer exists to isolate a kind of change. UI changes shouldn't risk business logic. Business logic changes shouldn't require touching the database. Infrastructure changes (a new sync strategy, a different HTTP client) shouldn't ripple into every screen. This is what makes a codebase safe to extend over years, by a team that will grow beyond its original authors.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lib/ tree. The key pattern: every feature under features/ repeats the same three-folder shape (data / domain / presentation), so once a developer learns the pattern in auth/, they already know their way around capture/, data_entry/, and visualization/. core/ holds everything that would otherwise be duplicated across features.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here -- this is a legitimate, working pattern for an app this size, not a shortcut. It's explicit and traceable, which matters for a team that's still growing. The recommendation to add get_it later is about scaling, not fixing a defect.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go_router 14.2.7, configured in lib/core/router/app_router.dart. The interesting design choice is refreshListenable: AppSession.instance -- AppSession is a ChangeNotifier, so the moment a user logs in or out, the router automatically re-runs its redirect logic. No screen anywhere needs to manually call context.go() to enforce the auth boundary.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state management uses Bloc (events + states), not the lighter-weight Cubit -- a consistent choice across the app. Advantage for this audience: because business logic changes are expressed as discrete, named events and states, they're straightforward to unit test without touching any widget code, and the state transitions are auditable -- useful for a system handling official health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pattern is what makes the offline-first behavior possible without the UI ever knowing whether data came from the network or the local database -- the repository decides that, transparently, behind one interface.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small detail with a real payoff: because the domain layer never sees raw JSON, a DHIS2 API shape change is absorbed entirely inside the Model classes in the data layer, without touching a single use case, bloc, or screen.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first half of the journey. Two details worth calling out: metadata sync only ever pulls the logged-in user's own organisation-unit subtree, not the full ~38,000-unit national tree -- this keeps first-login sync fast and the local database small. And step 4/5 both work identically whether the device is online or offline at that moment.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property here for a Ministry audience: steps 6 and 7 never touch the network. A health worker can fill out an entire form standing in a facility with zero signal, and the data is already durably saved on the device the moment they type it. Only step 8 onward involves the server, and even that is resilient to failure -- if the push fails, the value simply stays 'pending' and is retried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security slide for a non-technical audience because 'password security' is what they'll ask about first. Emphasize: DHIS2's own Basic Auth is used online, exactly as the server expects. For offline access -- which is the whole point of this app -- we never store the password; we store a salted SHA-256 hash bound to that specific server's URL, so even if a device is lost, the verifier can't be replayed against a different DHIS2 instance, and it can't be reversed back into the original password.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top to bottom: this is the full path a piece of data takes, from the network wire down to the disk on the device. Four of five layers are solid. The items marked with a warning triangle are exactly the three gaps called out later in the Security Assessment and Roadmap slides -- flagging them here too so the audience sees them in context, not as a surprise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request goes through exactly two interceptors, in a fixed order. AuthInterceptor adds standard headers and watches for 401s -- if the session has expired server-side, it ends the local session and sends the user back to /login with a reason code. LoggingInterceptor only runs in debug builds and explicitly redacts the Authorization header before anything reaches the console -- this was verified directly in the source, with a comment in the code stating why.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login gets its own physical database file (hisp_&lt;username&gt;.sqlite on native, an equivalent isolated store on Web). One device can hold multiple users' data with zero cross-contamination. All queries go through Drift's type-safe query builder -- confirmed no raw SQL string concatenation anywhere, which eliminates SQL injection as a risk class by construction. WAL journal mode and foreign keys are both explicitly enabled for durability.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statement of the whole app, restated after the audience has seen the database and network layers underneath it. The offline-first claim isn't marketing language -- it traces to specific, verifiable code paths: drafts save to Drift before any Dio call, and metadata sync scoping keeps the local database small enough to work reliably on modest field devices.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Sync is never something the user has to remember to do. Three background doors fire it automatically -- coming back online, logging in, and a five-minute heartbeat that catches anything the other two missed. There's also a manual sync button on the Home and Capture screens for a user who wants to force it and see an exact outcome (uploaded / failed / already up to date). Pushes are batched at 500 values per request so a large backlog doesn't time out on a weak field connection.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rule that protects field workers from ever losing their own typed data. An unsubmitted draft -- something the user is actively working on -- is never silently overwritten by a stale server value, full stop. Once a value has been submitted and is sitting in a conflict, the app falls back to comparing timestamps with a two-minute tolerance for normal clock drift, and it explicitly detects and distrusts tampered device clocks. Server rejections aren't a dead end either -- DHIS2 tells us exactly why a value was rejected, and we show that reason directly to the user so they can fix it in place.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everyday path a health worker actually walks. Every one of these screens reads from the local database first -- the org unit tree is lazily loaded so the app never has to hold all ~38,000 national organisation units in memory. Note the Ethiopian calendar support: period pickers and DHIS2 period IDs follow Ethiopia's fiscal year, which matters for correctness, not just polish.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theme across every error path in this codebase is the same: fail safe, fail visibly, and never destroy field data because of a transient network problem. That property was verified directly in the sync and completeness code, not assumed.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scrutinized slide in the deck -- give it the most time. Lead with strengths so the weaknesses land as 'known and being addressed' rather than 'discovered by the audience.' None of the weaknesses involve credential exposure -- they're all about defense-in-depth for a lost or compromised device, and every one has a concrete, scoped fix in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engineering maturity, not a report card. The team tested the highest-risk code first -- the sync and conflict-resolution engine, exactly the part that protects field data -- which is the right prioritization for an app at this stage. UI test coverage is the natural next investment.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item on this slide is a decision made specifically because the target device is a mid-range Android phone on a weak rural connection, not a high-end device on office WiFi. That context should be explicit for the Ministry audience.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UX principle running through the app is transparency about state -- a health worker should never wonder whether their data was saved or whether it reached the server; the app tells them, in plain language,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checklist slide -- read it fast, let the list itself make the point that this is a substantially complete product, not a prototype. Debug-only tools (sync debug screen, in-app DB viewer) exist too, used internally for support and QA, not shown to end users.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items are security hardening ahead of any national-scale rollout -- all four are bounded, well-understood engineering tasks, not open research problems. NEXT items are engineering investment for a growing team and a growing feature set. LATER items are genuine product enhancements that depend on Ministry and HISP Ethiopia priorities -- worth discussing which of these matter most for the next phase of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confidence, not caveats. The message: this app is already doing its core job in the field today, the engineering foundation is sound enough to build on for years, and the security gaps are known quantities with clear owners and fixes -- not unknowns discovered during this review.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Likely questions to be ready for: data ownership/hosting, what happens if a device is lost (answer: no plaintext credentials, encryption is the top roadmap item), and the timeline for the NOW-tier security items before any wider rollout.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43D"/>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10515600" cy="457200"/>
          </a:xfrm>
          <a:prstGeom prst="rect">
            <a:avLst/>
          </a:prstGeom>
          <a:noFill/>
        </p:spPr>
        <p:txBody>
          <a:bodyPr wrap="square" anchor="t" lIns="0" rIns="0" tIns="0" bIns="0">
            <a:spAutoFit/>
          </a:bodyPr>
          <a:lstStyle/>
          <a:p>
            <a:pPr algn="l"/>
            <a:r>
              <a:rPr sz="1600" b="1" i="0">
                <a:solidFill>
                  <a:srgbClr val="F2A900"/>
                </a:solidFill>
                <a:latin typeface="Calibri"/>
              </a:rPr>
              <a:t>MINISTRY OF HEALTH TECHNICAL REVIEW</a:t>
            </a:r>
          </a:p>
        </p:txBody>
      </p:sp>
      <p:sp>
        <p:nvSpPr>
          <p:cNvPr id="5" name="TextBox 4"/>
          <p:cNvSpPr txBox="1"/>
          <p:nvPr/>
        </p:nvSpPr>
        <p:spPr>
          <a:xfrm>
            <a:off x="822960" y="2286000"/>
            <a:ext cx="10515600" cy="1371600"/>
          </a:xfrm>
          <a:prstGeom prst="rect">
            <a:avLst/>
          </a:prstGeom>
          <a:noFill/>
        </p:spPr>
        <p:txBody>
          <a:bodyPr wrap="square" anchor="t" lIns="0" rIns="0" tIns="0" bIns="0">
            <a:spAutoFit/>
          </a:bodyPr>
          <a:lstStyle/>
          <a:p>
            <a:pPr algn="l"/>
            <a:r>
              <a:rPr sz="5400" b="1" i="0">
                <a:solidFill>
                  <a:srgbClr val="FFFFFF"/>
                </a:solidFill>
                <a:latin typeface="Calibri"/>
              </a:rPr>
              <a:t>HISP Mobile Tracker</a:t>
            </a:r>
          </a:p>
        </p:txBody>
      </p:sp>
      <p:sp>
        <p:nvSpPr>
          <p:cNvPr id="6" name="TextBox 5"/>
          <p:cNvSpPr txBox="1"/>
          <p:nvPr/>
        </p:nvSpPr>
        <p:spPr>
          <a:xfrm>
            <a:off x="822960" y="3246120"/>
            <a:ext cx="10515600" cy="914400"/>
          </a:xfrm>
          <a:prstGeom prst="rect">
            <a:avLst/>
          </a:prstGeom>
          <a:noFill/>
        </p:spPr>
        <p:txBody>
          <a:bodyPr wrap="square" anchor="t" lIns="0" rIns="0" tIns="0" bIns="0">
            <a:spAutoFit/>
          </a:bodyPr>
          <a:lstStyle/>
          <a:p>
            <a:pPr algn="l"/>
            <a:r>
              <a:rPr sz="2200" b="0" i="0">
                <a:solidFill>
                  <a:srgbClr val="13A9E0"/>
                </a:solidFill>
                <a:latin typeface="Calibri"/>
              </a:rPr>
              <a:t>Offline-First DHIS2 Mobile Data Capture for Ethiopia's Health System</a:t>
            </a:r>
          </a:p>
        </p:txBody>
      </p:sp>
      <p:sp>
        <p:nvSpPr>
          <p:cNvPr id="7" name="TextBox 6"/>
          <p:cNvSpPr txBox="1"/>
          <p:nvPr/>
        </p:nvSpPr>
        <p:spPr>
          <a:xfrm>
            <a:off x="822960" y="3794760"/>
            <a:ext cx="10515600" cy="548640"/>
          </a:xfrm>
          <a:prstGeom prst="rect">
            <a:avLst/>
          </a:prstGeom>
          <a:noFill/>
        </p:spPr>
        <p:txBody>
          <a:bodyPr wrap="square" anchor="t" lIns="0" rIns="0" tIns="0" bIns="0">
            <a:spAutoFit/>
          </a:bodyPr>
          <a:lstStyle/>
          <a:p>
            <a:pPr algn="l"/>
            <a:r>
              <a:rPr sz="1600" b="0" i="1">
                <a:solidFill>
                  <a:srgbClr val="FFFFFF"/>
                </a:solidFill>
                <a:latin typeface="Calibri"/>
              </a:rPr>
              <a:t>Architecture, Security &amp; Readiness Review</a:t>
            </a:r>
          </a:p>
        </p:txBody>
      </p:sp>
      <p:sp>
        <p:nvSpPr>
          <p:cNvPr id="8" name="Rectangle 7"/>
          <p:cNvSpPr/>
          <p:nvPr/>
        </p:nvSpPr>
        <p:spPr>
          <a:xfrm>
            <a:off x="822960" y="4526280"/>
            <a:ext cx="2377440" cy="3175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989320"/>
            <a:ext cx="7315200" cy="365760"/>
          </a:xfrm>
          <a:prstGeom prst="rect">
            <a:avLst/>
          </a:prstGeom>
          <a:noFill/>
        </p:spPr>
        <p:txBody>
          <a:bodyPr wrap="square" anchor="t" lIns="0" rIns="0" tIns="0" bIns="0">
            <a:spAutoFit/>
          </a:bodyPr>
          <a:lstStyle/>
          <a:p>
            <a:pPr algn="l"/>
            <a:r>
              <a:rPr sz="1300" b="0" i="0">
                <a:solidFill>
                  <a:srgbClr val="FFFFFF"/>
                </a:solidFill>
                <a:latin typeface="Calibri"/>
              </a:rPr>
              <a:t>Prepared by HISP Ethiopia, in collaboration with the Federal Ministry of Health</a:t>
            </a:r>
          </a:p>
        </p:txBody>
      </p:sp>
      <p:sp>
        <p:nvSpPr>
          <p:cNvPr id="10" name="TextBox 9"/>
          <p:cNvSpPr txBox="1"/>
          <p:nvPr/>
        </p:nvSpPr>
        <p:spPr>
          <a:xfrm>
            <a:off x="822960" y="6309360"/>
            <a:ext cx="7315200" cy="365760"/>
          </a:xfrm>
          <a:prstGeom prst="rect">
            <a:avLst/>
          </a:prstGeom>
          <a:noFill/>
        </p:spPr>
        <p:txBody>
          <a:bodyPr wrap="square" anchor="t" lIns="0" rIns="0" tIns="0" bIns="0">
            <a:spAutoFit/>
          </a:bodyPr>
          <a:lstStyle/>
          <a:p>
            <a:pPr algn="l"/>
            <a:r>
              <a:rPr sz="1200" b="0" i="0">
                <a:solidFill>
                  <a:srgbClr val="00A689"/>
                </a:solidFill>
                <a:latin typeface="Calibri"/>
              </a:rPr>
              <a:t>Flutter  •  DHIS2 2.40  •  Offline-First SQLite/Drift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43D"/>
        </a:solidFill>
        <a:effectLst/>
      </p:bgPr>
    </p:bg>
    <p:spTree>
      <p:nvGrpSpPr>
        <p:cNvPr id="1" name=""/>
        <p:cNvGrpSpPr/>
        <p:nvPr/>
      </p:nvGrpSpPr>
      <p:grpSpPr/>
      <p:sp>
        <p:nvSpPr>
          <p:cNvPr id="2" name="Rectangle 1"/>
          <p:cNvSpPr/>
          <p:nvPr/>
        </p:nvSpPr>
        <p:spPr>
          <a:xfrm>
            <a:off x="0" y="3017520"/>
            <a:ext cx="128016" cy="146304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880360"/>
            <a:ext cx="10515600" cy="1097280"/>
          </a:xfrm>
          <a:prstGeom prst="rect">
            <a:avLst/>
          </a:prstGeom>
          <a:noFill/>
        </p:spPr>
        <p:txBody>
          <a:bodyPr wrap="square" anchor="t" lIns="0" rIns="0" tIns="0" bIns="0">
            <a:spAutoFit/>
          </a:bodyPr>
          <a:lstStyle/>
          <a:p>
            <a:pPr algn="l"/>
            <a:r>
              <a:rPr sz="4000" b="1" i="0">
                <a:solidFill>
                  <a:srgbClr val="FFFFFF"/>
                </a:solidFill>
                <a:latin typeface="Calibri"/>
              </a:rPr>
              <a:t>Presentation Roadmap</a:t>
            </a:r>
          </a:p>
        </p:txBody>
      </p:sp>
      <p:sp>
        <p:nvSpPr>
          <p:cNvPr id="4" name="TextBox 3"/>
          <p:cNvSpPr txBox="1"/>
          <p:nvPr/>
        </p:nvSpPr>
        <p:spPr>
          <a:xfrm>
            <a:off x="640080" y="3794760"/>
            <a:ext cx="9601200" cy="731520"/>
          </a:xfrm>
          <a:prstGeom prst="rect">
            <a:avLst/>
          </a:prstGeom>
          <a:noFill/>
        </p:spPr>
        <p:txBody>
          <a:bodyPr wrap="square" anchor="t" lIns="0" rIns="0" tIns="0" bIns="0">
            <a:spAutoFit/>
          </a:bodyPr>
          <a:lstStyle/>
          <a:p>
            <a:pPr algn="l"/>
            <a:r>
              <a:rPr sz="1700" b="0" i="0">
                <a:solidFill>
                  <a:srgbClr val="13A9E0"/>
                </a:solidFill>
                <a:latin typeface="Calibri"/>
              </a:rPr>
              <a:t>Architecture  →  Application Flow  →  Security  →  Offline &amp; Sync  →  Quality  →  Roadmap</a:t>
            </a:r>
          </a:p>
        </p:txBody>
      </p:sp>
      <p:sp>
        <p:nvSpPr>
          <p:cNvPr id="5" name="TextBox 4"/>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6" name="TextBox 5"/>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EXECUTIVE SUMMARY</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What We Reviewed &amp; Where the App Stands</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600"/>
              </a:spcAft>
            </a:pPr>
            <a:r>
              <a:rPr sz="1700" b="0">
                <a:solidFill>
                  <a:srgbClr val="222B38"/>
                </a:solidFill>
                <a:latin typeface="Calibri"/>
              </a:rPr>
              <a:t>▸  An offline-first Flutter application for aggregate health data capture into DHIS2, built for field health workers with intermittent connectivity.</a:t>
            </a:r>
          </a:p>
          <a:p>
            <a:pPr marL="0" indent="0">
              <a:spcAft>
                <a:spcPts val="1600"/>
              </a:spcAft>
            </a:pPr>
            <a:r>
              <a:rPr sz="1700" b="0">
                <a:solidFill>
                  <a:srgbClr val="222B38"/>
                </a:solidFill>
                <a:latin typeface="Calibri"/>
              </a:rPr>
              <a:t>▸  118 Dart source files, ~32,000 lines of production code, organized in feature-first Clean Architecture (Presentation / Domain / Data / Core).</a:t>
            </a:r>
          </a:p>
          <a:p>
            <a:pPr marL="0" indent="0">
              <a:spcAft>
                <a:spcPts val="1600"/>
              </a:spcAft>
            </a:pPr>
            <a:r>
              <a:rPr sz="1700" b="0">
                <a:solidFill>
                  <a:srgbClr val="222B38"/>
                </a:solidFill>
                <a:latin typeface="Calibri"/>
              </a:rPr>
              <a:t>▸  Local-first storage: a per-user SQLite database (Drift) with 25 tables; every form save lands on-device before it ever touches the network.</a:t>
            </a:r>
          </a:p>
          <a:p>
            <a:pPr marL="0" indent="0">
              <a:spcAft>
                <a:spcPts val="1600"/>
              </a:spcAft>
            </a:pPr>
            <a:r>
              <a:rPr sz="1700" b="0">
                <a:solidFill>
                  <a:srgbClr val="222B38"/>
                </a:solidFill>
                <a:latin typeface="Calibri"/>
              </a:rPr>
              <a:t>▸  Automatic + manual synchronization with a verified conflict-resolution engine (draft-always-wins, timestamp-based newest-wins, tamper detection).</a:t>
            </a:r>
          </a:p>
          <a:p>
            <a:pPr marL="0" indent="0">
              <a:spcAft>
                <a:spcPts val="1600"/>
              </a:spcAft>
            </a:pPr>
            <a:r>
              <a:rPr sz="1700" b="0">
                <a:solidFill>
                  <a:srgbClr val="222B38"/>
                </a:solidFill>
                <a:latin typeface="Calibri"/>
              </a:rPr>
              <a:t>▸  Security posture is sound for the current pilot: HTTPS-only release builds, salted-hash offline credentials, OS-level secure storage, redacted logs.</a:t>
            </a:r>
          </a:p>
          <a:p>
            <a:pPr marL="0" indent="0">
              <a:spcAft>
                <a:spcPts val="1600"/>
              </a:spcAft>
            </a:pPr>
            <a:r>
              <a:rPr sz="1700" b="0">
                <a:solidFill>
                  <a:srgbClr val="222B38"/>
                </a:solidFill>
                <a:latin typeface="Calibri"/>
              </a:rPr>
              <a:t>▸  Known gaps are identified and prioritized transparently — database-at-rest encryption, build minification, and certificate pinning are the top three.</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AGENDA</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What This Review Covers</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800"/>
              </a:spcAft>
            </a:pPr>
            <a:r>
              <a:rPr sz="1800" b="0">
                <a:solidFill>
                  <a:srgbClr val="222B38"/>
                </a:solidFill>
                <a:latin typeface="Calibri"/>
              </a:rPr>
              <a:t>▸  System Architecture — Clean Architecture, folder structure, dependency injection, routing, state management</a:t>
            </a:r>
          </a:p>
          <a:p>
            <a:pPr marL="0" indent="0">
              <a:spcAft>
                <a:spcPts val="1800"/>
              </a:spcAft>
            </a:pPr>
            <a:r>
              <a:rPr sz="1800" b="0">
                <a:solidFill>
                  <a:srgbClr val="222B38"/>
                </a:solidFill>
                <a:latin typeface="Calibri"/>
              </a:rPr>
              <a:t>▸  Application Workflow — the full journey from opening the app to data landing on the DHIS2 server</a:t>
            </a:r>
          </a:p>
          <a:p>
            <a:pPr marL="0" indent="0">
              <a:spcAft>
                <a:spcPts val="1800"/>
              </a:spcAft>
            </a:pPr>
            <a:r>
              <a:rPr sz="1800" b="0">
                <a:solidFill>
                  <a:srgbClr val="222B38"/>
                </a:solidFill>
                <a:latin typeface="Calibri"/>
              </a:rPr>
              <a:t>▸  Security Analysis — authentication, credential storage, network security, and an honest strengths/weaknesses assessment</a:t>
            </a:r>
          </a:p>
          <a:p>
            <a:pPr marL="0" indent="0">
              <a:spcAft>
                <a:spcPts val="1800"/>
              </a:spcAft>
            </a:pPr>
            <a:r>
              <a:rPr sz="1800" b="0">
                <a:solidFill>
                  <a:srgbClr val="222B38"/>
                </a:solidFill>
                <a:latin typeface="Calibri"/>
              </a:rPr>
              <a:t>▸  Offline-First &amp; Synchronization — the local database, the sync engine, and the conflict-resolution rules</a:t>
            </a:r>
          </a:p>
          <a:p>
            <a:pPr marL="0" indent="0">
              <a:spcAft>
                <a:spcPts val="1800"/>
              </a:spcAft>
            </a:pPr>
            <a:r>
              <a:rPr sz="1800" b="0">
                <a:solidFill>
                  <a:srgbClr val="222B38"/>
                </a:solidFill>
                <a:latin typeface="Calibri"/>
              </a:rPr>
              <a:t>▸  Code Quality, Performance &amp; UX — how maintainable, fast, and usable the app is today</a:t>
            </a:r>
          </a:p>
          <a:p>
            <a:pPr marL="0" indent="0">
              <a:spcAft>
                <a:spcPts val="1800"/>
              </a:spcAft>
            </a:pPr>
            <a:r>
              <a:rPr sz="1800" b="0">
                <a:solidFill>
                  <a:srgbClr val="222B38"/>
                </a:solidFill>
                <a:latin typeface="Calibri"/>
              </a:rPr>
              <a:t>▸  Feature Inventory &amp; Roadmap — what's shipped, and what we recommend building next</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PROJECT OVERVIEW</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HISP Mobile Tracker</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600"/>
              </a:spcAft>
            </a:pPr>
            <a:r>
              <a:rPr sz="1700" b="0">
                <a:solidFill>
                  <a:srgbClr val="222B38"/>
                </a:solidFill>
                <a:latin typeface="Calibri"/>
              </a:rPr>
              <a:t>▸  What it is: a DHIS2-based mobile data entry app for aggregate (not tracker/individual) health data.</a:t>
            </a:r>
          </a:p>
          <a:p>
            <a:pPr marL="0" indent="0">
              <a:spcAft>
                <a:spcPts val="1600"/>
              </a:spcAft>
            </a:pPr>
            <a:r>
              <a:rPr sz="1700" b="0">
                <a:solidFill>
                  <a:srgbClr val="222B38"/>
                </a:solidFill>
                <a:latin typeface="Calibri"/>
              </a:rPr>
              <a:t>▸  Who built it: HISP Ethiopia, in collaboration with the Federal Ministry of Health.</a:t>
            </a:r>
          </a:p>
          <a:p>
            <a:pPr marL="0" indent="0">
              <a:spcAft>
                <a:spcPts val="1600"/>
              </a:spcAft>
            </a:pPr>
            <a:r>
              <a:rPr sz="1700" b="0">
                <a:solidFill>
                  <a:srgbClr val="222B38"/>
                </a:solidFill>
                <a:latin typeface="Calibri"/>
              </a:rPr>
              <a:t>▸  Who uses it: health facility data-entry staff working across Ethiopia's organisation unit hierarchy — roughly 38,000 units nationally.</a:t>
            </a:r>
          </a:p>
          <a:p>
            <a:pPr marL="0" indent="0">
              <a:spcAft>
                <a:spcPts val="1600"/>
              </a:spcAft>
            </a:pPr>
            <a:r>
              <a:rPr sz="1700" b="0">
                <a:solidFill>
                  <a:srgbClr val="222B38"/>
                </a:solidFill>
                <a:latin typeface="Calibri"/>
              </a:rPr>
              <a:t>▸  Core promise: enter data anywhere, at any time, with or without a connection — nothing is lost when the network drops.</a:t>
            </a:r>
          </a:p>
          <a:p>
            <a:pPr marL="0" indent="0">
              <a:spcAft>
                <a:spcPts val="1600"/>
              </a:spcAft>
            </a:pPr>
            <a:r>
              <a:rPr sz="1700" b="0">
                <a:solidFill>
                  <a:srgbClr val="222B38"/>
                </a:solidFill>
                <a:latin typeface="Calibri"/>
              </a:rPr>
              <a:t>▸  Target platform: DHIS2 version 2.40, currently pointed at the HMIS staging instance (hmis-staging.moh.gov.et).</a:t>
            </a:r>
          </a:p>
          <a:p>
            <a:pPr marL="0" indent="0">
              <a:spcAft>
                <a:spcPts val="1600"/>
              </a:spcAft>
            </a:pPr>
            <a:r>
              <a:rPr sz="1700" b="0">
                <a:solidFill>
                  <a:srgbClr val="222B38"/>
                </a:solidFill>
                <a:latin typeface="Calibri"/>
              </a:rPr>
              <a:t>▸  Delivery: single Flutter codebase — Android, iOS, and Web from one source tree.</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TECHNOLOGY STACK</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What the App Is Built With</a:t>
            </a:r>
          </a:p>
        </p:txBody>
      </p:sp>
      <p:graphicFrame>
        <p:nvGraphicFramePr>
          <p:cNvPr id="6" name="Table 5"/>
          <p:cNvGraphicFramePr>
            <a:graphicFrameLocks noGrp="1"/>
          </p:cNvGraphicFramePr>
          <p:nvPr/>
        </p:nvGraphicFramePr>
        <p:xfrm>
          <a:off x="502920" y="1645920"/>
          <a:ext cx="11155680" cy="4846320"/>
        </p:xfrm>
        <a:graphic>
          <a:graphicData uri="http://schemas.openxmlformats.org/drawingml/2006/table">
            <a:tbl>
              <a:tblPr firstRow="1" bandRow="1">
                <a:tableStyleId>{5C22544A-7EE6-4342-B048-85BDC9FD1C3A}</a:tableStyleId>
              </a:tblPr>
              <a:tblGrid>
                <a:gridCol w="3657600"/>
                <a:gridCol w="4389120"/>
                <a:gridCol w="3108960"/>
              </a:tblGrid>
              <a:tr h="440574">
                <a:tc>
                  <a:txBody>
                    <a:bodyPr/>
                    <a:lstStyle/>
                    <a:p>
                      <a:pPr algn="l"/>
                      <a:r>
                        <a:rPr b="1" sz="1400">
                          <a:solidFill>
                            <a:srgbClr val="FFFFFF"/>
                          </a:solidFill>
                        </a:rPr>
                        <a:t>Concern</a:t>
                      </a:r>
                    </a:p>
                  </a:txBody>
                  <a:tcPr>
                    <a:solidFill>
                      <a:srgbClr val="0B243D"/>
                    </a:solidFill>
                  </a:tcPr>
                </a:tc>
                <a:tc>
                  <a:txBody>
                    <a:bodyPr/>
                    <a:lstStyle/>
                    <a:p>
                      <a:pPr algn="l"/>
                      <a:r>
                        <a:rPr b="1" sz="1400">
                          <a:solidFill>
                            <a:srgbClr val="FFFFFF"/>
                          </a:solidFill>
                        </a:rPr>
                        <a:t>Package</a:t>
                      </a:r>
                    </a:p>
                  </a:txBody>
                  <a:tcPr>
                    <a:solidFill>
                      <a:srgbClr val="0B243D"/>
                    </a:solidFill>
                  </a:tcPr>
                </a:tc>
                <a:tc>
                  <a:txBody>
                    <a:bodyPr/>
                    <a:lstStyle/>
                    <a:p>
                      <a:pPr algn="l"/>
                      <a:r>
                        <a:rPr b="1" sz="1400">
                          <a:solidFill>
                            <a:srgbClr val="FFFFFF"/>
                          </a:solidFill>
                        </a:rPr>
                        <a:t>Version</a:t>
                      </a:r>
                    </a:p>
                  </a:txBody>
                  <a:tcPr>
                    <a:solidFill>
                      <a:srgbClr val="0B243D"/>
                    </a:solidFill>
                  </a:tcPr>
                </a:tc>
              </a:tr>
              <a:tr h="440574">
                <a:tc>
                  <a:txBody>
                    <a:bodyPr/>
                    <a:lstStyle/>
                    <a:p>
                      <a:r>
                        <a:rPr sz="1400">
                          <a:solidFill>
                            <a:srgbClr val="222B38"/>
                          </a:solidFill>
                        </a:rPr>
                        <a:t>Framework</a:t>
                      </a:r>
                    </a:p>
                  </a:txBody>
                  <a:tcPr>
                    <a:solidFill>
                      <a:srgbClr val="F4F7FA"/>
                    </a:solidFill>
                  </a:tcPr>
                </a:tc>
                <a:tc>
                  <a:txBody>
                    <a:bodyPr/>
                    <a:lstStyle/>
                    <a:p>
                      <a:r>
                        <a:rPr sz="1400">
                          <a:solidFill>
                            <a:srgbClr val="222B38"/>
                          </a:solidFill>
                        </a:rPr>
                        <a:t>Flutter (Dart SDK)</a:t>
                      </a:r>
                    </a:p>
                  </a:txBody>
                  <a:tcPr>
                    <a:solidFill>
                      <a:srgbClr val="F4F7FA"/>
                    </a:solidFill>
                  </a:tcPr>
                </a:tc>
                <a:tc>
                  <a:txBody>
                    <a:bodyPr/>
                    <a:lstStyle/>
                    <a:p>
                      <a:r>
                        <a:rPr sz="1400">
                          <a:solidFill>
                            <a:srgbClr val="222B38"/>
                          </a:solidFill>
                        </a:rPr>
                        <a:t>&gt;=3.0.0 &lt;4.0.0</a:t>
                      </a:r>
                    </a:p>
                  </a:txBody>
                  <a:tcPr>
                    <a:solidFill>
                      <a:srgbClr val="F4F7FA"/>
                    </a:solidFill>
                  </a:tcPr>
                </a:tc>
              </a:tr>
              <a:tr h="440574">
                <a:tc>
                  <a:txBody>
                    <a:bodyPr/>
                    <a:lstStyle/>
                    <a:p>
                      <a:r>
                        <a:rPr sz="1400">
                          <a:solidFill>
                            <a:srgbClr val="222B38"/>
                          </a:solidFill>
                        </a:rPr>
                        <a:t>State Management</a:t>
                      </a:r>
                    </a:p>
                  </a:txBody>
                  <a:tcPr>
                    <a:solidFill>
                      <a:srgbClr val="FFFFFF"/>
                    </a:solidFill>
                  </a:tcPr>
                </a:tc>
                <a:tc>
                  <a:txBody>
                    <a:bodyPr/>
                    <a:lstStyle/>
                    <a:p>
                      <a:r>
                        <a:rPr sz="1400">
                          <a:solidFill>
                            <a:srgbClr val="222B38"/>
                          </a:solidFill>
                        </a:rPr>
                        <a:t>flutter_bloc</a:t>
                      </a:r>
                    </a:p>
                  </a:txBody>
                  <a:tcPr>
                    <a:solidFill>
                      <a:srgbClr val="FFFFFF"/>
                    </a:solidFill>
                  </a:tcPr>
                </a:tc>
                <a:tc>
                  <a:txBody>
                    <a:bodyPr/>
                    <a:lstStyle/>
                    <a:p>
                      <a:r>
                        <a:rPr sz="1400">
                          <a:solidFill>
                            <a:srgbClr val="222B38"/>
                          </a:solidFill>
                        </a:rPr>
                        <a:t>^8.1.6</a:t>
                      </a:r>
                    </a:p>
                  </a:txBody>
                  <a:tcPr>
                    <a:solidFill>
                      <a:srgbClr val="FFFFFF"/>
                    </a:solidFill>
                  </a:tcPr>
                </a:tc>
              </a:tr>
              <a:tr h="440574">
                <a:tc>
                  <a:txBody>
                    <a:bodyPr/>
                    <a:lstStyle/>
                    <a:p>
                      <a:r>
                        <a:rPr sz="1400">
                          <a:solidFill>
                            <a:srgbClr val="222B38"/>
                          </a:solidFill>
                        </a:rPr>
                        <a:t>Navigation</a:t>
                      </a:r>
                    </a:p>
                  </a:txBody>
                  <a:tcPr>
                    <a:solidFill>
                      <a:srgbClr val="F4F7FA"/>
                    </a:solidFill>
                  </a:tcPr>
                </a:tc>
                <a:tc>
                  <a:txBody>
                    <a:bodyPr/>
                    <a:lstStyle/>
                    <a:p>
                      <a:r>
                        <a:rPr sz="1400">
                          <a:solidFill>
                            <a:srgbClr val="222B38"/>
                          </a:solidFill>
                        </a:rPr>
                        <a:t>go_router</a:t>
                      </a:r>
                    </a:p>
                  </a:txBody>
                  <a:tcPr>
                    <a:solidFill>
                      <a:srgbClr val="F4F7FA"/>
                    </a:solidFill>
                  </a:tcPr>
                </a:tc>
                <a:tc>
                  <a:txBody>
                    <a:bodyPr/>
                    <a:lstStyle/>
                    <a:p>
                      <a:r>
                        <a:rPr sz="1400">
                          <a:solidFill>
                            <a:srgbClr val="222B38"/>
                          </a:solidFill>
                        </a:rPr>
                        <a:t>^14.2.7</a:t>
                      </a:r>
                    </a:p>
                  </a:txBody>
                  <a:tcPr>
                    <a:solidFill>
                      <a:srgbClr val="F4F7FA"/>
                    </a:solidFill>
                  </a:tcPr>
                </a:tc>
              </a:tr>
              <a:tr h="440574">
                <a:tc>
                  <a:txBody>
                    <a:bodyPr/>
                    <a:lstStyle/>
                    <a:p>
                      <a:r>
                        <a:rPr sz="1400">
                          <a:solidFill>
                            <a:srgbClr val="222B38"/>
                          </a:solidFill>
                        </a:rPr>
                        <a:t>HTTP / Networking</a:t>
                      </a:r>
                    </a:p>
                  </a:txBody>
                  <a:tcPr>
                    <a:solidFill>
                      <a:srgbClr val="FFFFFF"/>
                    </a:solidFill>
                  </a:tcPr>
                </a:tc>
                <a:tc>
                  <a:txBody>
                    <a:bodyPr/>
                    <a:lstStyle/>
                    <a:p>
                      <a:r>
                        <a:rPr sz="1400">
                          <a:solidFill>
                            <a:srgbClr val="222B38"/>
                          </a:solidFill>
                        </a:rPr>
                        <a:t>dio</a:t>
                      </a:r>
                    </a:p>
                  </a:txBody>
                  <a:tcPr>
                    <a:solidFill>
                      <a:srgbClr val="FFFFFF"/>
                    </a:solidFill>
                  </a:tcPr>
                </a:tc>
                <a:tc>
                  <a:txBody>
                    <a:bodyPr/>
                    <a:lstStyle/>
                    <a:p>
                      <a:r>
                        <a:rPr sz="1400">
                          <a:solidFill>
                            <a:srgbClr val="222B38"/>
                          </a:solidFill>
                        </a:rPr>
                        <a:t>^5.7.0</a:t>
                      </a:r>
                    </a:p>
                  </a:txBody>
                  <a:tcPr>
                    <a:solidFill>
                      <a:srgbClr val="FFFFFF"/>
                    </a:solidFill>
                  </a:tcPr>
                </a:tc>
              </a:tr>
              <a:tr h="440574">
                <a:tc>
                  <a:txBody>
                    <a:bodyPr/>
                    <a:lstStyle/>
                    <a:p>
                      <a:r>
                        <a:rPr sz="1400">
                          <a:solidFill>
                            <a:srgbClr val="222B38"/>
                          </a:solidFill>
                        </a:rPr>
                        <a:t>Local Database</a:t>
                      </a:r>
                    </a:p>
                  </a:txBody>
                  <a:tcPr>
                    <a:solidFill>
                      <a:srgbClr val="F4F7FA"/>
                    </a:solidFill>
                  </a:tcPr>
                </a:tc>
                <a:tc>
                  <a:txBody>
                    <a:bodyPr/>
                    <a:lstStyle/>
                    <a:p>
                      <a:r>
                        <a:rPr sz="1400">
                          <a:solidFill>
                            <a:srgbClr val="222B38"/>
                          </a:solidFill>
                        </a:rPr>
                        <a:t>drift + sqlite3_flutter_libs</a:t>
                      </a:r>
                    </a:p>
                  </a:txBody>
                  <a:tcPr>
                    <a:solidFill>
                      <a:srgbClr val="F4F7FA"/>
                    </a:solidFill>
                  </a:tcPr>
                </a:tc>
                <a:tc>
                  <a:txBody>
                    <a:bodyPr/>
                    <a:lstStyle/>
                    <a:p>
                      <a:r>
                        <a:rPr sz="1400">
                          <a:solidFill>
                            <a:srgbClr val="222B38"/>
                          </a:solidFill>
                        </a:rPr>
                        <a:t>^2.20.0 / ^0.5.24</a:t>
                      </a:r>
                    </a:p>
                  </a:txBody>
                  <a:tcPr>
                    <a:solidFill>
                      <a:srgbClr val="F4F7FA"/>
                    </a:solidFill>
                  </a:tcPr>
                </a:tc>
              </a:tr>
              <a:tr h="440574">
                <a:tc>
                  <a:txBody>
                    <a:bodyPr/>
                    <a:lstStyle/>
                    <a:p>
                      <a:r>
                        <a:rPr sz="1400">
                          <a:solidFill>
                            <a:srgbClr val="222B38"/>
                          </a:solidFill>
                        </a:rPr>
                        <a:t>Secure Credential Storage</a:t>
                      </a:r>
                    </a:p>
                  </a:txBody>
                  <a:tcPr>
                    <a:solidFill>
                      <a:srgbClr val="FFFFFF"/>
                    </a:solidFill>
                  </a:tcPr>
                </a:tc>
                <a:tc>
                  <a:txBody>
                    <a:bodyPr/>
                    <a:lstStyle/>
                    <a:p>
                      <a:r>
                        <a:rPr sz="1400">
                          <a:solidFill>
                            <a:srgbClr val="222B38"/>
                          </a:solidFill>
                        </a:rPr>
                        <a:t>flutter_secure_storage</a:t>
                      </a:r>
                    </a:p>
                  </a:txBody>
                  <a:tcPr>
                    <a:solidFill>
                      <a:srgbClr val="FFFFFF"/>
                    </a:solidFill>
                  </a:tcPr>
                </a:tc>
                <a:tc>
                  <a:txBody>
                    <a:bodyPr/>
                    <a:lstStyle/>
                    <a:p>
                      <a:r>
                        <a:rPr sz="1400">
                          <a:solidFill>
                            <a:srgbClr val="222B38"/>
                          </a:solidFill>
                        </a:rPr>
                        <a:t>^9.2.2</a:t>
                      </a:r>
                    </a:p>
                  </a:txBody>
                  <a:tcPr>
                    <a:solidFill>
                      <a:srgbClr val="FFFFFF"/>
                    </a:solidFill>
                  </a:tcPr>
                </a:tc>
              </a:tr>
              <a:tr h="440574">
                <a:tc>
                  <a:txBody>
                    <a:bodyPr/>
                    <a:lstStyle/>
                    <a:p>
                      <a:r>
                        <a:rPr sz="1400">
                          <a:solidFill>
                            <a:srgbClr val="222B38"/>
                          </a:solidFill>
                        </a:rPr>
                        <a:t>Offline Credential Verification</a:t>
                      </a:r>
                    </a:p>
                  </a:txBody>
                  <a:tcPr>
                    <a:solidFill>
                      <a:srgbClr val="F4F7FA"/>
                    </a:solidFill>
                  </a:tcPr>
                </a:tc>
                <a:tc>
                  <a:txBody>
                    <a:bodyPr/>
                    <a:lstStyle/>
                    <a:p>
                      <a:r>
                        <a:rPr sz="1400">
                          <a:solidFill>
                            <a:srgbClr val="222B38"/>
                          </a:solidFill>
                        </a:rPr>
                        <a:t>crypto (SHA-256)</a:t>
                      </a:r>
                    </a:p>
                  </a:txBody>
                  <a:tcPr>
                    <a:solidFill>
                      <a:srgbClr val="F4F7FA"/>
                    </a:solidFill>
                  </a:tcPr>
                </a:tc>
                <a:tc>
                  <a:txBody>
                    <a:bodyPr/>
                    <a:lstStyle/>
                    <a:p>
                      <a:r>
                        <a:rPr sz="1400">
                          <a:solidFill>
                            <a:srgbClr val="222B38"/>
                          </a:solidFill>
                        </a:rPr>
                        <a:t>^3.0.5</a:t>
                      </a:r>
                    </a:p>
                  </a:txBody>
                  <a:tcPr>
                    <a:solidFill>
                      <a:srgbClr val="F4F7FA"/>
                    </a:solidFill>
                  </a:tcPr>
                </a:tc>
              </a:tr>
              <a:tr h="440574">
                <a:tc>
                  <a:txBody>
                    <a:bodyPr/>
                    <a:lstStyle/>
                    <a:p>
                      <a:r>
                        <a:rPr sz="1400">
                          <a:solidFill>
                            <a:srgbClr val="222B38"/>
                          </a:solidFill>
                        </a:rPr>
                        <a:t>Connectivity Detection</a:t>
                      </a:r>
                    </a:p>
                  </a:txBody>
                  <a:tcPr>
                    <a:solidFill>
                      <a:srgbClr val="FFFFFF"/>
                    </a:solidFill>
                  </a:tcPr>
                </a:tc>
                <a:tc>
                  <a:txBody>
                    <a:bodyPr/>
                    <a:lstStyle/>
                    <a:p>
                      <a:r>
                        <a:rPr sz="1400">
                          <a:solidFill>
                            <a:srgbClr val="222B38"/>
                          </a:solidFill>
                        </a:rPr>
                        <a:t>connectivity_plus</a:t>
                      </a:r>
                    </a:p>
                  </a:txBody>
                  <a:tcPr>
                    <a:solidFill>
                      <a:srgbClr val="FFFFFF"/>
                    </a:solidFill>
                  </a:tcPr>
                </a:tc>
                <a:tc>
                  <a:txBody>
                    <a:bodyPr/>
                    <a:lstStyle/>
                    <a:p>
                      <a:r>
                        <a:rPr sz="1400">
                          <a:solidFill>
                            <a:srgbClr val="222B38"/>
                          </a:solidFill>
                        </a:rPr>
                        <a:t>^7.2.0</a:t>
                      </a:r>
                    </a:p>
                  </a:txBody>
                  <a:tcPr>
                    <a:solidFill>
                      <a:srgbClr val="FFFFFF"/>
                    </a:solidFill>
                  </a:tcPr>
                </a:tc>
              </a:tr>
              <a:tr h="440574">
                <a:tc>
                  <a:txBody>
                    <a:bodyPr/>
                    <a:lstStyle/>
                    <a:p>
                      <a:r>
                        <a:rPr sz="1400">
                          <a:solidFill>
                            <a:srgbClr val="222B38"/>
                          </a:solidFill>
                        </a:rPr>
                        <a:t>Dashboards / Charts</a:t>
                      </a:r>
                    </a:p>
                  </a:txBody>
                  <a:tcPr>
                    <a:solidFill>
                      <a:srgbClr val="F4F7FA"/>
                    </a:solidFill>
                  </a:tcPr>
                </a:tc>
                <a:tc>
                  <a:txBody>
                    <a:bodyPr/>
                    <a:lstStyle/>
                    <a:p>
                      <a:r>
                        <a:rPr sz="1400">
                          <a:solidFill>
                            <a:srgbClr val="222B38"/>
                          </a:solidFill>
                        </a:rPr>
                        <a:t>fl_chart</a:t>
                      </a:r>
                    </a:p>
                  </a:txBody>
                  <a:tcPr>
                    <a:solidFill>
                      <a:srgbClr val="F4F7FA"/>
                    </a:solidFill>
                  </a:tcPr>
                </a:tc>
                <a:tc>
                  <a:txBody>
                    <a:bodyPr/>
                    <a:lstStyle/>
                    <a:p>
                      <a:r>
                        <a:rPr sz="1400">
                          <a:solidFill>
                            <a:srgbClr val="222B38"/>
                          </a:solidFill>
                        </a:rPr>
                        <a:t>^1.2.0</a:t>
                      </a:r>
                    </a:p>
                  </a:txBody>
                  <a:tcPr>
                    <a:solidFill>
                      <a:srgbClr val="F4F7FA"/>
                    </a:solidFill>
                  </a:tcPr>
                </a:tc>
              </a:tr>
              <a:tr h="440580">
                <a:tc>
                  <a:txBody>
                    <a:bodyPr/>
                    <a:lstStyle/>
                    <a:p>
                      <a:r>
                        <a:rPr sz="1400">
                          <a:solidFill>
                            <a:srgbClr val="222B38"/>
                          </a:solidFill>
                        </a:rPr>
                        <a:t>Logging</a:t>
                      </a:r>
                    </a:p>
                  </a:txBody>
                  <a:tcPr>
                    <a:solidFill>
                      <a:srgbClr val="FFFFFF"/>
                    </a:solidFill>
                  </a:tcPr>
                </a:tc>
                <a:tc>
                  <a:txBody>
                    <a:bodyPr/>
                    <a:lstStyle/>
                    <a:p>
                      <a:r>
                        <a:rPr sz="1400">
                          <a:solidFill>
                            <a:srgbClr val="222B38"/>
                          </a:solidFill>
                        </a:rPr>
                        <a:t>logger</a:t>
                      </a:r>
                    </a:p>
                  </a:txBody>
                  <a:tcPr>
                    <a:solidFill>
                      <a:srgbClr val="FFFFFF"/>
                    </a:solidFill>
                  </a:tcPr>
                </a:tc>
                <a:tc>
                  <a:txBody>
                    <a:bodyPr/>
                    <a:lstStyle/>
                    <a:p>
                      <a:r>
                        <a:rPr sz="1400">
                          <a:solidFill>
                            <a:srgbClr val="222B38"/>
                          </a:solidFill>
                        </a:rPr>
                        <a:t>^2.4.0</a:t>
                      </a:r>
                    </a:p>
                  </a:txBody>
                  <a:tcPr>
                    <a:solidFill>
                      <a:srgbClr val="FFFFFF"/>
                    </a:solidFill>
                  </a:tcPr>
                </a:tc>
              </a:tr>
            </a:tbl>
          </a:graphicData>
        </a:graphic>
      </p:graphicFrame>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SYSTEM ARCHITECTURE</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Clean Architecture — Four Layers, One Dependency Rule</a:t>
            </a:r>
          </a:p>
        </p:txBody>
      </p:sp>
      <p:sp>
        <p:nvSpPr>
          <p:cNvPr id="6" name="Rectangle 5"/>
          <p:cNvSpPr/>
          <p:nvPr/>
        </p:nvSpPr>
        <p:spPr>
          <a:xfrm>
            <a:off x="502920" y="1618488"/>
            <a:ext cx="2011680" cy="1024128"/>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18488"/>
            <a:ext cx="2011680" cy="1024128"/>
          </a:xfrm>
          <a:prstGeom prst="rect">
            <a:avLst/>
          </a:prstGeom>
          <a:noFill/>
        </p:spPr>
        <p:txBody>
          <a:bodyPr wrap="square" anchor="ctr" lIns="0" rIns="0" tIns="0" bIns="0">
            <a:spAutoFit/>
          </a:bodyPr>
          <a:lstStyle/>
          <a:p>
            <a:pPr algn="ctr"/>
            <a:r>
              <a:rPr sz="1500" b="1" i="0">
                <a:solidFill>
                  <a:srgbClr val="FFFFFF"/>
                </a:solidFill>
                <a:latin typeface="Calibri"/>
              </a:rPr>
              <a:t>PRESENTATION</a:t>
            </a:r>
          </a:p>
        </p:txBody>
      </p:sp>
      <p:sp>
        <p:nvSpPr>
          <p:cNvPr id="8" name="Rectangle 7"/>
          <p:cNvSpPr/>
          <p:nvPr/>
        </p:nvSpPr>
        <p:spPr>
          <a:xfrm>
            <a:off x="2697480" y="1746504"/>
            <a:ext cx="2910840" cy="768096"/>
          </a:xfrm>
          <a:prstGeom prst="rect">
            <a:avLst/>
          </a:prstGeom>
          <a:solidFill>
            <a:srgbClr val="F4F7FA"/>
          </a:solidFill>
          <a:ln w="15875">
            <a:solidFill>
              <a:srgbClr val="F2A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70632" y="1746504"/>
            <a:ext cx="2764536" cy="768096"/>
          </a:xfrm>
          <a:prstGeom prst="rect">
            <a:avLst/>
          </a:prstGeom>
          <a:noFill/>
        </p:spPr>
        <p:txBody>
          <a:bodyPr wrap="square" anchor="ctr" lIns="0" rIns="0" tIns="0" bIns="0">
            <a:spAutoFit/>
          </a:bodyPr>
          <a:lstStyle/>
          <a:p>
            <a:pPr algn="ctr"/>
            <a:r>
              <a:rPr sz="1150" b="0" i="0">
                <a:solidFill>
                  <a:srgbClr val="222B38"/>
                </a:solidFill>
                <a:latin typeface="Calibri"/>
              </a:rPr>
              <a:t>Pages / Widgets</a:t>
            </a:r>
          </a:p>
        </p:txBody>
      </p:sp>
      <p:sp>
        <p:nvSpPr>
          <p:cNvPr id="10" name="Rectangle 9"/>
          <p:cNvSpPr/>
          <p:nvPr/>
        </p:nvSpPr>
        <p:spPr>
          <a:xfrm>
            <a:off x="5745480" y="1746504"/>
            <a:ext cx="2910840" cy="768096"/>
          </a:xfrm>
          <a:prstGeom prst="rect">
            <a:avLst/>
          </a:prstGeom>
          <a:solidFill>
            <a:srgbClr val="F4F7FA"/>
          </a:solidFill>
          <a:ln w="15875">
            <a:solidFill>
              <a:srgbClr val="F2A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18632" y="1746504"/>
            <a:ext cx="2764536" cy="768096"/>
          </a:xfrm>
          <a:prstGeom prst="rect">
            <a:avLst/>
          </a:prstGeom>
          <a:noFill/>
        </p:spPr>
        <p:txBody>
          <a:bodyPr wrap="square" anchor="ctr" lIns="0" rIns="0" tIns="0" bIns="0">
            <a:spAutoFit/>
          </a:bodyPr>
          <a:lstStyle/>
          <a:p>
            <a:pPr algn="ctr"/>
            <a:r>
              <a:rPr sz="1150" b="0" i="0">
                <a:solidFill>
                  <a:srgbClr val="222B38"/>
                </a:solidFill>
                <a:latin typeface="Calibri"/>
              </a:rPr>
              <a:t>Bloc (Events → States)</a:t>
            </a:r>
          </a:p>
        </p:txBody>
      </p:sp>
      <p:sp>
        <p:nvSpPr>
          <p:cNvPr id="12" name="Rectangle 11"/>
          <p:cNvSpPr/>
          <p:nvPr/>
        </p:nvSpPr>
        <p:spPr>
          <a:xfrm>
            <a:off x="8793480" y="1746504"/>
            <a:ext cx="2910840" cy="768096"/>
          </a:xfrm>
          <a:prstGeom prst="rect">
            <a:avLst/>
          </a:prstGeom>
          <a:solidFill>
            <a:srgbClr val="F4F7FA"/>
          </a:solidFill>
          <a:ln w="15875">
            <a:solidFill>
              <a:srgbClr val="F2A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6632" y="1746504"/>
            <a:ext cx="2764536" cy="768096"/>
          </a:xfrm>
          <a:prstGeom prst="rect">
            <a:avLst/>
          </a:prstGeom>
          <a:noFill/>
        </p:spPr>
        <p:txBody>
          <a:bodyPr wrap="square" anchor="ctr" lIns="0" rIns="0" tIns="0" bIns="0">
            <a:spAutoFit/>
          </a:bodyPr>
          <a:lstStyle/>
          <a:p>
            <a:pPr algn="ctr"/>
            <a:r>
              <a:rPr sz="1150" b="0" i="0">
                <a:solidFill>
                  <a:srgbClr val="222B38"/>
                </a:solidFill>
                <a:latin typeface="Calibri"/>
              </a:rPr>
              <a:t>go_router Navigation</a:t>
            </a:r>
          </a:p>
        </p:txBody>
      </p:sp>
      <p:cxnSp>
        <p:nvCxnSpPr>
          <p:cNvPr id="14" name="Connector 13"/>
          <p:cNvCxnSpPr/>
          <p:nvPr/>
        </p:nvCxnSpPr>
        <p:spPr>
          <a:xfrm>
            <a:off x="1508760" y="2642616"/>
            <a:ext cx="0" cy="128016"/>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02920" y="2770632"/>
            <a:ext cx="2011680" cy="1024128"/>
          </a:xfrm>
          <a:prstGeom prst="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770632"/>
            <a:ext cx="2011680" cy="1024128"/>
          </a:xfrm>
          <a:prstGeom prst="rect">
            <a:avLst/>
          </a:prstGeom>
          <a:noFill/>
        </p:spPr>
        <p:txBody>
          <a:bodyPr wrap="square" anchor="ctr" lIns="0" rIns="0" tIns="0" bIns="0">
            <a:spAutoFit/>
          </a:bodyPr>
          <a:lstStyle/>
          <a:p>
            <a:pPr algn="ctr"/>
            <a:r>
              <a:rPr sz="1500" b="1" i="0">
                <a:solidFill>
                  <a:srgbClr val="FFFFFF"/>
                </a:solidFill>
                <a:latin typeface="Calibri"/>
              </a:rPr>
              <a:t>DOMAIN</a:t>
            </a:r>
          </a:p>
        </p:txBody>
      </p:sp>
      <p:sp>
        <p:nvSpPr>
          <p:cNvPr id="17" name="Rectangle 16"/>
          <p:cNvSpPr/>
          <p:nvPr/>
        </p:nvSpPr>
        <p:spPr>
          <a:xfrm>
            <a:off x="2697480" y="2898648"/>
            <a:ext cx="2910840" cy="768096"/>
          </a:xfrm>
          <a:prstGeom prst="rect">
            <a:avLst/>
          </a:prstGeom>
          <a:solidFill>
            <a:srgbClr val="F4F7FA"/>
          </a:solidFill>
          <a:ln w="15875">
            <a:solidFill>
              <a:srgbClr val="0256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70632" y="2898648"/>
            <a:ext cx="2764536" cy="768096"/>
          </a:xfrm>
          <a:prstGeom prst="rect">
            <a:avLst/>
          </a:prstGeom>
          <a:noFill/>
        </p:spPr>
        <p:txBody>
          <a:bodyPr wrap="square" anchor="ctr" lIns="0" rIns="0" tIns="0" bIns="0">
            <a:spAutoFit/>
          </a:bodyPr>
          <a:lstStyle/>
          <a:p>
            <a:pPr algn="ctr"/>
            <a:r>
              <a:rPr sz="1150" b="0" i="0">
                <a:solidFill>
                  <a:srgbClr val="222B38"/>
                </a:solidFill>
                <a:latin typeface="Calibri"/>
              </a:rPr>
              <a:t>Entities</a:t>
            </a:r>
          </a:p>
        </p:txBody>
      </p:sp>
      <p:sp>
        <p:nvSpPr>
          <p:cNvPr id="19" name="Rectangle 18"/>
          <p:cNvSpPr/>
          <p:nvPr/>
        </p:nvSpPr>
        <p:spPr>
          <a:xfrm>
            <a:off x="5745480" y="2898648"/>
            <a:ext cx="2910840" cy="768096"/>
          </a:xfrm>
          <a:prstGeom prst="rect">
            <a:avLst/>
          </a:prstGeom>
          <a:solidFill>
            <a:srgbClr val="F4F7FA"/>
          </a:solidFill>
          <a:ln w="15875">
            <a:solidFill>
              <a:srgbClr val="0256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18632" y="2898648"/>
            <a:ext cx="2764536" cy="768096"/>
          </a:xfrm>
          <a:prstGeom prst="rect">
            <a:avLst/>
          </a:prstGeom>
          <a:noFill/>
        </p:spPr>
        <p:txBody>
          <a:bodyPr wrap="square" anchor="ctr" lIns="0" rIns="0" tIns="0" bIns="0">
            <a:spAutoFit/>
          </a:bodyPr>
          <a:lstStyle/>
          <a:p>
            <a:pPr algn="ctr"/>
            <a:r>
              <a:rPr sz="1150" b="0" i="0">
                <a:solidFill>
                  <a:srgbClr val="222B38"/>
                </a:solidFill>
                <a:latin typeface="Calibri"/>
              </a:rPr>
              <a:t>Use Cases</a:t>
            </a:r>
          </a:p>
        </p:txBody>
      </p:sp>
      <p:sp>
        <p:nvSpPr>
          <p:cNvPr id="21" name="Rectangle 20"/>
          <p:cNvSpPr/>
          <p:nvPr/>
        </p:nvSpPr>
        <p:spPr>
          <a:xfrm>
            <a:off x="8793480" y="2898648"/>
            <a:ext cx="2910840" cy="768096"/>
          </a:xfrm>
          <a:prstGeom prst="rect">
            <a:avLst/>
          </a:prstGeom>
          <a:solidFill>
            <a:srgbClr val="F4F7FA"/>
          </a:solidFill>
          <a:ln w="15875">
            <a:solidFill>
              <a:srgbClr val="0256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6632" y="2898648"/>
            <a:ext cx="2764536" cy="768096"/>
          </a:xfrm>
          <a:prstGeom prst="rect">
            <a:avLst/>
          </a:prstGeom>
          <a:noFill/>
        </p:spPr>
        <p:txBody>
          <a:bodyPr wrap="square" anchor="ctr" lIns="0" rIns="0" tIns="0" bIns="0">
            <a:spAutoFit/>
          </a:bodyPr>
          <a:lstStyle/>
          <a:p>
            <a:pPr algn="ctr"/>
            <a:r>
              <a:rPr sz="1150" b="0" i="0">
                <a:solidFill>
                  <a:srgbClr val="222B38"/>
                </a:solidFill>
                <a:latin typeface="Calibri"/>
              </a:rPr>
              <a:t>Repository Interfaces</a:t>
            </a:r>
          </a:p>
        </p:txBody>
      </p:sp>
      <p:cxnSp>
        <p:nvCxnSpPr>
          <p:cNvPr id="23" name="Connector 22"/>
          <p:cNvCxnSpPr/>
          <p:nvPr/>
        </p:nvCxnSpPr>
        <p:spPr>
          <a:xfrm>
            <a:off x="1508760" y="3794760"/>
            <a:ext cx="0" cy="128016"/>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02920" y="3922776"/>
            <a:ext cx="2011680" cy="1024128"/>
          </a:xfrm>
          <a:prstGeom prst="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922776"/>
            <a:ext cx="2011680" cy="1024128"/>
          </a:xfrm>
          <a:prstGeom prst="rect">
            <a:avLst/>
          </a:prstGeom>
          <a:noFill/>
        </p:spPr>
        <p:txBody>
          <a:bodyPr wrap="square" anchor="ctr" lIns="0" rIns="0" tIns="0" bIns="0">
            <a:spAutoFit/>
          </a:bodyPr>
          <a:lstStyle/>
          <a:p>
            <a:pPr algn="ctr"/>
            <a:r>
              <a:rPr sz="1500" b="1" i="0">
                <a:solidFill>
                  <a:srgbClr val="FFFFFF"/>
                </a:solidFill>
                <a:latin typeface="Calibri"/>
              </a:rPr>
              <a:t>DATA</a:t>
            </a:r>
          </a:p>
        </p:txBody>
      </p:sp>
      <p:sp>
        <p:nvSpPr>
          <p:cNvPr id="26" name="Rectangle 25"/>
          <p:cNvSpPr/>
          <p:nvPr/>
        </p:nvSpPr>
        <p:spPr>
          <a:xfrm>
            <a:off x="2697480" y="4050792"/>
            <a:ext cx="2910840" cy="768096"/>
          </a:xfrm>
          <a:prstGeom prst="rect">
            <a:avLst/>
          </a:prstGeom>
          <a:solidFill>
            <a:srgbClr val="F4F7FA"/>
          </a:solidFill>
          <a:ln w="15875">
            <a:solidFill>
              <a:srgbClr val="00A6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70632" y="4050792"/>
            <a:ext cx="2764536" cy="768096"/>
          </a:xfrm>
          <a:prstGeom prst="rect">
            <a:avLst/>
          </a:prstGeom>
          <a:noFill/>
        </p:spPr>
        <p:txBody>
          <a:bodyPr wrap="square" anchor="ctr" lIns="0" rIns="0" tIns="0" bIns="0">
            <a:spAutoFit/>
          </a:bodyPr>
          <a:lstStyle/>
          <a:p>
            <a:pPr algn="ctr"/>
            <a:r>
              <a:rPr sz="1150" b="0" i="0">
                <a:solidFill>
                  <a:srgbClr val="222B38"/>
                </a:solidFill>
                <a:latin typeface="Calibri"/>
              </a:rPr>
              <a:t>Repository Implementations</a:t>
            </a:r>
          </a:p>
        </p:txBody>
      </p:sp>
      <p:sp>
        <p:nvSpPr>
          <p:cNvPr id="28" name="Rectangle 27"/>
          <p:cNvSpPr/>
          <p:nvPr/>
        </p:nvSpPr>
        <p:spPr>
          <a:xfrm>
            <a:off x="5745480" y="4050792"/>
            <a:ext cx="2910840" cy="768096"/>
          </a:xfrm>
          <a:prstGeom prst="rect">
            <a:avLst/>
          </a:prstGeom>
          <a:solidFill>
            <a:srgbClr val="F4F7FA"/>
          </a:solidFill>
          <a:ln w="15875">
            <a:solidFill>
              <a:srgbClr val="00A6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18632" y="4050792"/>
            <a:ext cx="2764536" cy="768096"/>
          </a:xfrm>
          <a:prstGeom prst="rect">
            <a:avLst/>
          </a:prstGeom>
          <a:noFill/>
        </p:spPr>
        <p:txBody>
          <a:bodyPr wrap="square" anchor="ctr" lIns="0" rIns="0" tIns="0" bIns="0">
            <a:spAutoFit/>
          </a:bodyPr>
          <a:lstStyle/>
          <a:p>
            <a:pPr algn="ctr"/>
            <a:r>
              <a:rPr sz="1150" b="0" i="0">
                <a:solidFill>
                  <a:srgbClr val="222B38"/>
                </a:solidFill>
                <a:latin typeface="Calibri"/>
              </a:rPr>
              <a:t>Remote / Local Data Sources</a:t>
            </a:r>
          </a:p>
        </p:txBody>
      </p:sp>
      <p:sp>
        <p:nvSpPr>
          <p:cNvPr id="30" name="Rectangle 29"/>
          <p:cNvSpPr/>
          <p:nvPr/>
        </p:nvSpPr>
        <p:spPr>
          <a:xfrm>
            <a:off x="8793480" y="4050792"/>
            <a:ext cx="2910840" cy="768096"/>
          </a:xfrm>
          <a:prstGeom prst="rect">
            <a:avLst/>
          </a:prstGeom>
          <a:solidFill>
            <a:srgbClr val="F4F7FA"/>
          </a:solidFill>
          <a:ln w="15875">
            <a:solidFill>
              <a:srgbClr val="00A6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6632" y="4050792"/>
            <a:ext cx="2764536" cy="768096"/>
          </a:xfrm>
          <a:prstGeom prst="rect">
            <a:avLst/>
          </a:prstGeom>
          <a:noFill/>
        </p:spPr>
        <p:txBody>
          <a:bodyPr wrap="square" anchor="ctr" lIns="0" rIns="0" tIns="0" bIns="0">
            <a:spAutoFit/>
          </a:bodyPr>
          <a:lstStyle/>
          <a:p>
            <a:pPr algn="ctr"/>
            <a:r>
              <a:rPr sz="1150" b="0" i="0">
                <a:solidFill>
                  <a:srgbClr val="222B38"/>
                </a:solidFill>
                <a:latin typeface="Calibri"/>
              </a:rPr>
              <a:t>Models (DTOs, fromJson/toJson)</a:t>
            </a:r>
          </a:p>
        </p:txBody>
      </p:sp>
      <p:cxnSp>
        <p:nvCxnSpPr>
          <p:cNvPr id="32" name="Connector 31"/>
          <p:cNvCxnSpPr/>
          <p:nvPr/>
        </p:nvCxnSpPr>
        <p:spPr>
          <a:xfrm>
            <a:off x="1508760" y="4946904"/>
            <a:ext cx="0" cy="128016"/>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02920" y="5074920"/>
            <a:ext cx="2011680" cy="1024128"/>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5074920"/>
            <a:ext cx="2011680" cy="1024128"/>
          </a:xfrm>
          <a:prstGeom prst="rect">
            <a:avLst/>
          </a:prstGeom>
          <a:noFill/>
        </p:spPr>
        <p:txBody>
          <a:bodyPr wrap="square" anchor="ctr" lIns="0" rIns="0" tIns="0" bIns="0">
            <a:spAutoFit/>
          </a:bodyPr>
          <a:lstStyle/>
          <a:p>
            <a:pPr algn="ctr"/>
            <a:r>
              <a:rPr sz="1500" b="1" i="0">
                <a:solidFill>
                  <a:srgbClr val="FFFFFF"/>
                </a:solidFill>
                <a:latin typeface="Calibri"/>
              </a:rPr>
              <a:t>CORE</a:t>
            </a:r>
          </a:p>
        </p:txBody>
      </p:sp>
      <p:sp>
        <p:nvSpPr>
          <p:cNvPr id="35" name="Rectangle 34"/>
          <p:cNvSpPr/>
          <p:nvPr/>
        </p:nvSpPr>
        <p:spPr>
          <a:xfrm>
            <a:off x="2697480" y="5202936"/>
            <a:ext cx="2910840" cy="768096"/>
          </a:xfrm>
          <a:prstGeom prst="rect">
            <a:avLst/>
          </a:prstGeom>
          <a:solidFill>
            <a:srgbClr val="F4F7FA"/>
          </a:solidFill>
          <a:ln w="15875">
            <a:solidFill>
              <a:srgbClr val="4A5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70632" y="5202936"/>
            <a:ext cx="2764536" cy="768096"/>
          </a:xfrm>
          <a:prstGeom prst="rect">
            <a:avLst/>
          </a:prstGeom>
          <a:noFill/>
        </p:spPr>
        <p:txBody>
          <a:bodyPr wrap="square" anchor="ctr" lIns="0" rIns="0" tIns="0" bIns="0">
            <a:spAutoFit/>
          </a:bodyPr>
          <a:lstStyle/>
          <a:p>
            <a:pPr algn="ctr"/>
            <a:r>
              <a:rPr sz="1150" b="0" i="0">
                <a:solidFill>
                  <a:srgbClr val="222B38"/>
                </a:solidFill>
                <a:latin typeface="Calibri"/>
              </a:rPr>
              <a:t>Network (Dio)</a:t>
            </a:r>
          </a:p>
        </p:txBody>
      </p:sp>
      <p:sp>
        <p:nvSpPr>
          <p:cNvPr id="37" name="Rectangle 36"/>
          <p:cNvSpPr/>
          <p:nvPr/>
        </p:nvSpPr>
        <p:spPr>
          <a:xfrm>
            <a:off x="5745480" y="5202936"/>
            <a:ext cx="2910840" cy="768096"/>
          </a:xfrm>
          <a:prstGeom prst="rect">
            <a:avLst/>
          </a:prstGeom>
          <a:solidFill>
            <a:srgbClr val="F4F7FA"/>
          </a:solidFill>
          <a:ln w="15875">
            <a:solidFill>
              <a:srgbClr val="4A5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18632" y="5202936"/>
            <a:ext cx="2764536" cy="768096"/>
          </a:xfrm>
          <a:prstGeom prst="rect">
            <a:avLst/>
          </a:prstGeom>
          <a:noFill/>
        </p:spPr>
        <p:txBody>
          <a:bodyPr wrap="square" anchor="ctr" lIns="0" rIns="0" tIns="0" bIns="0">
            <a:spAutoFit/>
          </a:bodyPr>
          <a:lstStyle/>
          <a:p>
            <a:pPr algn="ctr"/>
            <a:r>
              <a:rPr sz="1150" b="0" i="0">
                <a:solidFill>
                  <a:srgbClr val="222B38"/>
                </a:solidFill>
                <a:latin typeface="Calibri"/>
              </a:rPr>
              <a:t>Database (Drift/SQLite)</a:t>
            </a:r>
          </a:p>
        </p:txBody>
      </p:sp>
      <p:sp>
        <p:nvSpPr>
          <p:cNvPr id="39" name="Rectangle 38"/>
          <p:cNvSpPr/>
          <p:nvPr/>
        </p:nvSpPr>
        <p:spPr>
          <a:xfrm>
            <a:off x="8793480" y="5202936"/>
            <a:ext cx="2910840" cy="768096"/>
          </a:xfrm>
          <a:prstGeom prst="rect">
            <a:avLst/>
          </a:prstGeom>
          <a:solidFill>
            <a:srgbClr val="F4F7FA"/>
          </a:solidFill>
          <a:ln w="15875">
            <a:solidFill>
              <a:srgbClr val="4A55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6632" y="5202936"/>
            <a:ext cx="2764536" cy="768096"/>
          </a:xfrm>
          <a:prstGeom prst="rect">
            <a:avLst/>
          </a:prstGeom>
          <a:noFill/>
        </p:spPr>
        <p:txBody>
          <a:bodyPr wrap="square" anchor="ctr" lIns="0" rIns="0" tIns="0" bIns="0">
            <a:spAutoFit/>
          </a:bodyPr>
          <a:lstStyle/>
          <a:p>
            <a:pPr algn="ctr"/>
            <a:r>
              <a:rPr sz="1150" b="0" i="0">
                <a:solidFill>
                  <a:srgbClr val="222B38"/>
                </a:solidFill>
                <a:latin typeface="Calibri"/>
              </a:rPr>
              <a:t>Storage · Sync · Auth · Errors</a:t>
            </a:r>
          </a:p>
        </p:txBody>
      </p:sp>
      <p:sp>
        <p:nvSpPr>
          <p:cNvPr id="41" name="TextBox 40"/>
          <p:cNvSpPr txBox="1"/>
          <p:nvPr/>
        </p:nvSpPr>
        <p:spPr>
          <a:xfrm>
            <a:off x="502920" y="6272784"/>
            <a:ext cx="11155680" cy="502920"/>
          </a:xfrm>
          <a:prstGeom prst="rect">
            <a:avLst/>
          </a:prstGeom>
          <a:noFill/>
        </p:spPr>
        <p:txBody>
          <a:bodyPr wrap="square" anchor="t" lIns="0" rIns="0" tIns="0" bIns="0">
            <a:spAutoFit/>
          </a:bodyPr>
          <a:lstStyle/>
          <a:p>
            <a:pPr algn="l"/>
            <a:r>
              <a:rPr sz="1250" b="0" i="1">
                <a:solidFill>
                  <a:srgbClr val="5B6675"/>
                </a:solidFill>
                <a:latin typeface="Calibri"/>
              </a:rPr>
              <a:t>Dependency rule: outer layers depend inward. Verified by import inspection — domain/ files import only entities and core/errors, never Flutter, Dio, or Drift.</a:t>
            </a:r>
          </a:p>
        </p:txBody>
      </p:sp>
      <p:sp>
        <p:nvSpPr>
          <p:cNvPr id="42" name="TextBox 41"/>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43" name="TextBox 42"/>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CLEAN ARCHITECTURE</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Why Every Layer Exists</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300"/>
              </a:spcAft>
            </a:pPr>
            <a:r>
              <a:rPr sz="1550" b="0">
                <a:solidFill>
                  <a:srgbClr val="222B38"/>
                </a:solidFill>
                <a:latin typeface="Calibri"/>
              </a:rPr>
              <a:t>▸  Presentation — UI and state only.</a:t>
            </a:r>
          </a:p>
          <a:p>
            <a:pPr marL="256032" indent="0">
              <a:spcAft>
                <a:spcPts val="1300"/>
              </a:spcAft>
            </a:pPr>
            <a:r>
              <a:rPr sz="1350" b="0">
                <a:solidFill>
                  <a:srgbClr val="5B6675"/>
                </a:solidFill>
                <a:latin typeface="Calibri"/>
              </a:rPr>
              <a:t>–  Bloc converts user intent (events) into rendered state; swapping the UI never touches business rules.</a:t>
            </a:r>
          </a:p>
          <a:p>
            <a:pPr marL="0" indent="0">
              <a:spcAft>
                <a:spcPts val="1300"/>
              </a:spcAft>
            </a:pPr>
            <a:r>
              <a:rPr sz="1550" b="0">
                <a:solidFill>
                  <a:srgbClr val="222B38"/>
                </a:solidFill>
                <a:latin typeface="Calibri"/>
              </a:rPr>
              <a:t>▸  Domain — pure business rules, framework-agnostic.</a:t>
            </a:r>
          </a:p>
          <a:p>
            <a:pPr marL="256032" indent="0">
              <a:spcAft>
                <a:spcPts val="1300"/>
              </a:spcAft>
            </a:pPr>
            <a:r>
              <a:rPr sz="1350" b="0">
                <a:solidFill>
                  <a:srgbClr val="5B6675"/>
                </a:solidFill>
                <a:latin typeface="Calibri"/>
              </a:rPr>
              <a:t>–  Entities, use cases and repository interfaces have zero Flutter/Dio/Drift imports — fully unit-testable, and would survive a full UI or database rewrite untouched.</a:t>
            </a:r>
          </a:p>
          <a:p>
            <a:pPr marL="0" indent="0">
              <a:spcAft>
                <a:spcPts val="1300"/>
              </a:spcAft>
            </a:pPr>
            <a:r>
              <a:rPr sz="1550" b="0">
                <a:solidFill>
                  <a:srgbClr val="222B38"/>
                </a:solidFill>
                <a:latin typeface="Calibri"/>
              </a:rPr>
              <a:t>▸  Data — implements the Domain's contracts against real sources.</a:t>
            </a:r>
          </a:p>
          <a:p>
            <a:pPr marL="256032" indent="0">
              <a:spcAft>
                <a:spcPts val="1300"/>
              </a:spcAft>
            </a:pPr>
            <a:r>
              <a:rPr sz="1350" b="0">
                <a:solidFill>
                  <a:srgbClr val="5B6675"/>
                </a:solidFill>
                <a:latin typeface="Calibri"/>
              </a:rPr>
              <a:t>–  One repository implementation per interface (e.g. AuthRepositoryImpl implements AuthRepository) talks to Dio and Drift; swappable for tests via fakes.</a:t>
            </a:r>
          </a:p>
          <a:p>
            <a:pPr marL="0" indent="0">
              <a:spcAft>
                <a:spcPts val="1300"/>
              </a:spcAft>
            </a:pPr>
            <a:r>
              <a:rPr sz="1550" b="0">
                <a:solidFill>
                  <a:srgbClr val="222B38"/>
                </a:solidFill>
                <a:latin typeface="Calibri"/>
              </a:rPr>
              <a:t>▸  Core — cross-cutting infrastructure shared by every feature.</a:t>
            </a:r>
          </a:p>
          <a:p>
            <a:pPr marL="256032" indent="0">
              <a:spcAft>
                <a:spcPts val="1300"/>
              </a:spcAft>
            </a:pPr>
            <a:r>
              <a:rPr sz="1350" b="0">
                <a:solidFill>
                  <a:srgbClr val="5B6675"/>
                </a:solidFill>
                <a:latin typeface="Calibri"/>
              </a:rPr>
              <a:t>–  Network, Database, Storage, Sync, Auth and Errors live once in core/ instead of being duplicated per feature.</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PROJECT STRUCTURE</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Feature-First Folder Layout</a:t>
            </a:r>
          </a:p>
        </p:txBody>
      </p:sp>
      <p:sp>
        <p:nvSpPr>
          <p:cNvPr id="6" name="Rectangle 5"/>
          <p:cNvSpPr/>
          <p:nvPr/>
        </p:nvSpPr>
        <p:spPr>
          <a:xfrm>
            <a:off x="502920" y="1600200"/>
            <a:ext cx="11155680" cy="502920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10698480" cy="4663440"/>
          </a:xfrm>
          <a:prstGeom prst="rect">
            <a:avLst/>
          </a:prstGeom>
          <a:noFill/>
        </p:spPr>
        <p:txBody>
          <a:bodyPr wrap="square" anchor="t" lIns="0" rIns="0" tIns="0" bIns="0">
            <a:spAutoFit/>
          </a:bodyPr>
          <a:lstStyle/>
          <a:p>
            <a:pPr algn="l">
              <a:lnSpc>
                <a:spcPct val="112000"/>
              </a:lnSpc>
            </a:pPr>
            <a:r>
              <a:rPr sz="1250" b="0" i="0">
                <a:solidFill>
                  <a:srgbClr val="CFE8FA"/>
                </a:solidFill>
                <a:latin typeface="Consolas"/>
              </a:rPr>
              <a:t>lib/</a:t>
            </a:r>
          </a:p>
          <a:p>
            <a:pPr algn="l">
              <a:lnSpc>
                <a:spcPct val="112000"/>
              </a:lnSpc>
            </a:pPr>
            <a:r>
              <a:rPr sz="1250" b="0" i="0">
                <a:solidFill>
                  <a:srgbClr val="CFE8FA"/>
                </a:solidFill>
                <a:latin typeface="Consolas"/>
              </a:rPr>
              <a:t>├── core/                    Cross-cutting infrastructure</a:t>
            </a:r>
          </a:p>
          <a:p>
            <a:pPr algn="l">
              <a:lnSpc>
                <a:spcPct val="112000"/>
              </a:lnSpc>
            </a:pPr>
            <a:r>
              <a:rPr sz="1250" b="0" i="0">
                <a:solidFill>
                  <a:srgbClr val="CFE8FA"/>
                </a:solidFill>
                <a:latin typeface="Consolas"/>
              </a:rPr>
              <a:t>│   ├── auth/                AppSession, SessionService, CredentialStore</a:t>
            </a:r>
          </a:p>
          <a:p>
            <a:pPr algn="l">
              <a:lnSpc>
                <a:spcPct val="112000"/>
              </a:lnSpc>
            </a:pPr>
            <a:r>
              <a:rPr sz="1250" b="0" i="0">
                <a:solidFill>
                  <a:srgbClr val="CFE8FA"/>
                </a:solidFill>
                <a:latin typeface="Consolas"/>
              </a:rPr>
              <a:t>│   ├── constants/           API base URL, app constants</a:t>
            </a:r>
          </a:p>
          <a:p>
            <a:pPr algn="l">
              <a:lnSpc>
                <a:spcPct val="112000"/>
              </a:lnSpc>
            </a:pPr>
            <a:r>
              <a:rPr sz="1250" b="0" i="0">
                <a:solidFill>
                  <a:srgbClr val="CFE8FA"/>
                </a:solidFill>
                <a:latin typeface="Consolas"/>
              </a:rPr>
              <a:t>│   ├── data/                Data value store/sync/push, completeness, Ethiopian calendar</a:t>
            </a:r>
          </a:p>
          <a:p>
            <a:pPr algn="l">
              <a:lnSpc>
                <a:spcPct val="112000"/>
              </a:lnSpc>
            </a:pPr>
            <a:r>
              <a:rPr sz="1250" b="0" i="0">
                <a:solidFill>
                  <a:srgbClr val="CFE8FA"/>
                </a:solidFill>
                <a:latin typeface="Consolas"/>
              </a:rPr>
              <a:t>│   ├── database/            Drift schema (app_database.dart) + platform connections</a:t>
            </a:r>
          </a:p>
          <a:p>
            <a:pPr algn="l">
              <a:lnSpc>
                <a:spcPct val="112000"/>
              </a:lnSpc>
            </a:pPr>
            <a:r>
              <a:rPr sz="1250" b="0" i="0">
                <a:solidFill>
                  <a:srgbClr val="CFE8FA"/>
                </a:solidFill>
                <a:latin typeface="Consolas"/>
              </a:rPr>
              <a:t>│   ├── errors/              Exceptions &amp; Failures</a:t>
            </a:r>
          </a:p>
          <a:p>
            <a:pPr algn="l">
              <a:lnSpc>
                <a:spcPct val="112000"/>
              </a:lnSpc>
            </a:pPr>
            <a:r>
              <a:rPr sz="1250" b="0" i="0">
                <a:solidFill>
                  <a:srgbClr val="CFE8FA"/>
                </a:solidFill>
                <a:latin typeface="Consolas"/>
              </a:rPr>
              <a:t>│   ├── metadata/            DHIS2 metadata resources + sync service (14 files)</a:t>
            </a:r>
          </a:p>
          <a:p>
            <a:pPr algn="l">
              <a:lnSpc>
                <a:spcPct val="112000"/>
              </a:lnSpc>
            </a:pPr>
            <a:r>
              <a:rPr sz="1250" b="0" i="0">
                <a:solidFill>
                  <a:srgbClr val="CFE8FA"/>
                </a:solidFill>
                <a:latin typeface="Consolas"/>
              </a:rPr>
              <a:t>│   ├── network/             Dio ApiClient, interceptors, connectivity service</a:t>
            </a:r>
          </a:p>
          <a:p>
            <a:pPr algn="l">
              <a:lnSpc>
                <a:spcPct val="112000"/>
              </a:lnSpc>
            </a:pPr>
            <a:r>
              <a:rPr sz="1250" b="0" i="0">
                <a:solidFill>
                  <a:srgbClr val="CFE8FA"/>
                </a:solidFill>
                <a:latin typeface="Consolas"/>
              </a:rPr>
              <a:t>│   ├── router/              go_router config + auth guard</a:t>
            </a:r>
          </a:p>
          <a:p>
            <a:pPr algn="l">
              <a:lnSpc>
                <a:spcPct val="112000"/>
              </a:lnSpc>
            </a:pPr>
            <a:r>
              <a:rPr sz="1250" b="0" i="0">
                <a:solidFill>
                  <a:srgbClr val="CFE8FA"/>
                </a:solidFill>
                <a:latin typeface="Consolas"/>
              </a:rPr>
              <a:t>│   ├── storage/             Secure storage wrapper</a:t>
            </a:r>
          </a:p>
          <a:p>
            <a:pPr algn="l">
              <a:lnSpc>
                <a:spcPct val="112000"/>
              </a:lnSpc>
            </a:pPr>
            <a:r>
              <a:rPr sz="1250" b="0" i="0">
                <a:solidFill>
                  <a:srgbClr val="CFE8FA"/>
                </a:solidFill>
                <a:latin typeface="Consolas"/>
              </a:rPr>
              <a:t>│   ├── sync/                SyncCoordinator, DriftSyncManager, manual sync</a:t>
            </a:r>
          </a:p>
          <a:p>
            <a:pPr algn="l">
              <a:lnSpc>
                <a:spcPct val="112000"/>
              </a:lnSpc>
            </a:pPr>
            <a:r>
              <a:rPr sz="1250" b="0" i="0">
                <a:solidFill>
                  <a:srgbClr val="CFE8FA"/>
                </a:solidFill>
                <a:latin typeface="Consolas"/>
              </a:rPr>
              <a:t>│   └── utils/               Logger, HTTP date parsing</a:t>
            </a:r>
          </a:p>
          <a:p>
            <a:pPr algn="l">
              <a:lnSpc>
                <a:spcPct val="112000"/>
              </a:lnSpc>
            </a:pPr>
            <a:r>
              <a:rPr sz="1250" b="0" i="0">
                <a:solidFill>
                  <a:srgbClr val="CFE8FA"/>
                </a:solidFill>
                <a:latin typeface="Consolas"/>
              </a:rPr>
              <a:t>├── features/                One folder per feature, each with data / domain / presentation</a:t>
            </a:r>
          </a:p>
          <a:p>
            <a:pPr algn="l">
              <a:lnSpc>
                <a:spcPct val="112000"/>
              </a:lnSpc>
            </a:pPr>
            <a:r>
              <a:rPr sz="1250" b="0" i="0">
                <a:solidFill>
                  <a:srgbClr val="CFE8FA"/>
                </a:solidFill>
                <a:latin typeface="Consolas"/>
              </a:rPr>
              <a:t>│   ├── auth/                Login, session, online + offline authentication</a:t>
            </a:r>
          </a:p>
          <a:p>
            <a:pPr algn="l">
              <a:lnSpc>
                <a:spcPct val="112000"/>
              </a:lnSpc>
            </a:pPr>
            <a:r>
              <a:rPr sz="1250" b="0" i="0">
                <a:solidFill>
                  <a:srgbClr val="CFE8FA"/>
                </a:solidFill>
                <a:latin typeface="Consolas"/>
              </a:rPr>
              <a:t>│   ├── capture/             Org unit tree → dataset → section → period</a:t>
            </a:r>
          </a:p>
          <a:p>
            <a:pPr algn="l">
              <a:lnSpc>
                <a:spcPct val="112000"/>
              </a:lnSpc>
            </a:pPr>
            <a:r>
              <a:rPr sz="1250" b="0" i="0">
                <a:solidFill>
                  <a:srgbClr val="CFE8FA"/>
                </a:solidFill>
                <a:latin typeface="Consolas"/>
              </a:rPr>
              <a:t>│   ├── data_entry/          Entry form: bloc, collapsible table, cells</a:t>
            </a:r>
          </a:p>
          <a:p>
            <a:pPr algn="l">
              <a:lnSpc>
                <a:spcPct val="112000"/>
              </a:lnSpc>
            </a:pPr>
            <a:r>
              <a:rPr sz="1250" b="0" i="0">
                <a:solidFill>
                  <a:srgbClr val="CFE8FA"/>
                </a:solidFill>
                <a:latin typeface="Consolas"/>
              </a:rPr>
              <a:t>│   ├── home/                App shell: Capture/Visualization toggle, filters</a:t>
            </a:r>
          </a:p>
          <a:p>
            <a:pPr algn="l">
              <a:lnSpc>
                <a:spcPct val="112000"/>
              </a:lnSpc>
            </a:pPr>
            <a:r>
              <a:rPr sz="1250" b="0" i="0">
                <a:solidFill>
                  <a:srgbClr val="CFE8FA"/>
                </a:solidFill>
                <a:latin typeface="Consolas"/>
              </a:rPr>
              <a:t>│   ├── settings/            Server URL, profile, logout</a:t>
            </a:r>
          </a:p>
          <a:p>
            <a:pPr algn="l">
              <a:lnSpc>
                <a:spcPct val="112000"/>
              </a:lnSpc>
            </a:pPr>
            <a:r>
              <a:rPr sz="1250" b="0" i="0">
                <a:solidFill>
                  <a:srgbClr val="CFE8FA"/>
                </a:solidFill>
                <a:latin typeface="Consolas"/>
              </a:rPr>
              <a:t>│   └── visualization/       DHIS2 dashboards rendered with fl_chart</a:t>
            </a:r>
          </a:p>
          <a:p>
            <a:pPr algn="l">
              <a:lnSpc>
                <a:spcPct val="112000"/>
              </a:lnSpc>
            </a:pPr>
            <a:r>
              <a:rPr sz="1250" b="0" i="0">
                <a:solidFill>
                  <a:srgbClr val="CFE8FA"/>
                </a:solidFill>
                <a:latin typeface="Consolas"/>
              </a:rPr>
              <a:t>├── shared/                  theme/ (colors, type, spacing) + widgets/ (reusable UI)</a:t>
            </a:r>
          </a:p>
          <a:p>
            <a:pPr algn="l">
              <a:lnSpc>
                <a:spcPct val="112000"/>
              </a:lnSpc>
            </a:pPr>
            <a:r>
              <a:rPr sz="1250" b="0" i="0">
                <a:solidFill>
                  <a:srgbClr val="CFE8FA"/>
                </a:solidFill>
                <a:latin typeface="Consolas"/>
              </a:rPr>
              <a:t>└── debug/                   Dev-only: sync debug screen, in-app DB viewer</a:t>
            </a:r>
          </a:p>
        </p:txBody>
      </p:sp>
      <p:sp>
        <p:nvSpPr>
          <p:cNvPr id="8" name="TextBox 7"/>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9" name="TextBox 8"/>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DEPENDENCY INJECTION</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Manual, Explicit Wiring</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500"/>
              </a:spcAft>
            </a:pPr>
            <a:r>
              <a:rPr sz="1650" b="0">
                <a:solidFill>
                  <a:srgbClr val="222B38"/>
                </a:solidFill>
                <a:latin typeface="Calibri"/>
              </a:rPr>
              <a:t>▸  No DI framework — no get_it, riverpod, or injectable. Dependencies are wired by hand, via constructor injection.</a:t>
            </a:r>
          </a:p>
          <a:p>
            <a:pPr marL="0" indent="0">
              <a:spcAft>
                <a:spcPts val="1500"/>
              </a:spcAft>
            </a:pPr>
            <a:r>
              <a:rPr sz="1650" b="0">
                <a:solidFill>
                  <a:srgbClr val="222B38"/>
                </a:solidFill>
                <a:latin typeface="Calibri"/>
              </a:rPr>
              <a:t>▸  App-wide singletons: ApiClient(), SecureStorage(), AppSession.instance, ConnectivityService.instance.</a:t>
            </a:r>
          </a:p>
          <a:p>
            <a:pPr marL="0" indent="0">
              <a:spcAft>
                <a:spcPts val="1500"/>
              </a:spcAft>
            </a:pPr>
            <a:r>
              <a:rPr sz="1650" b="0">
                <a:solidFill>
                  <a:srgbClr val="222B38"/>
                </a:solidFill>
                <a:latin typeface="Calibri"/>
              </a:rPr>
              <a:t>▸  Feature-level wiring happens once per page — e.g. LoginPage builds AuthRepositoryImpl, wraps it in LoginUseCase / LogoutUseCase, and hands both to AuthBloc via BlocProvider.</a:t>
            </a:r>
          </a:p>
          <a:p>
            <a:pPr marL="0" indent="0">
              <a:spcAft>
                <a:spcPts val="1500"/>
              </a:spcAft>
            </a:pPr>
            <a:r>
              <a:rPr sz="1650" b="0">
                <a:solidFill>
                  <a:srgbClr val="222B38"/>
                </a:solidFill>
                <a:latin typeface="Calibri"/>
              </a:rPr>
              <a:t>▸  Trade-off, stated plainly: this is simple and easy to read top-to-bottom, but the same wiring code repeats across pages.</a:t>
            </a:r>
          </a:p>
          <a:p>
            <a:pPr marL="0" indent="0">
              <a:spcAft>
                <a:spcPts val="1500"/>
              </a:spcAft>
            </a:pPr>
            <a:r>
              <a:rPr sz="1650" b="0">
                <a:solidFill>
                  <a:srgbClr val="222B38"/>
                </a:solidFill>
                <a:latin typeface="Calibri"/>
              </a:rPr>
              <a:t>▸  Recommendation (see Roadmap): introduce a lightweight service locator (get_it) once the feature count grows further, to remove the repetition without adding real complexity.</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ROUTING &amp; NAVIGATION</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go_router with a Live Authentication Guard</a:t>
            </a:r>
          </a:p>
        </p:txBody>
      </p:sp>
      <p:sp>
        <p:nvSpPr>
          <p:cNvPr id="6" name="Rounded Rectangle 5"/>
          <p:cNvSpPr/>
          <p:nvPr/>
        </p:nvSpPr>
        <p:spPr>
          <a:xfrm>
            <a:off x="1554480" y="1737360"/>
            <a:ext cx="3291840" cy="640080"/>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Calibri"/>
              </a:rPr>
              <a:t>AppSession changes</a:t>
            </a:r>
          </a:p>
          <a:p>
            <a:pPr algn="ctr"/>
            <a:r>
              <a:rPr sz="1200" b="1">
                <a:solidFill>
                  <a:srgbClr val="FFFFFF"/>
                </a:solidFill>
                <a:latin typeface="Calibri"/>
              </a:rPr>
              <a:t>(login / logout)</a:t>
            </a:r>
          </a:p>
        </p:txBody>
      </p:sp>
      <p:cxnSp>
        <p:nvCxnSpPr>
          <p:cNvPr id="7" name="Connector 6"/>
          <p:cNvCxnSpPr/>
          <p:nvPr/>
        </p:nvCxnSpPr>
        <p:spPr>
          <a:xfrm>
            <a:off x="3200400" y="2377440"/>
            <a:ext cx="0" cy="27432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Diamond 7"/>
          <p:cNvSpPr/>
          <p:nvPr/>
        </p:nvSpPr>
        <p:spPr>
          <a:xfrm>
            <a:off x="1874519" y="2651760"/>
            <a:ext cx="2651760" cy="9601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0B243D"/>
                </a:solidFill>
                <a:latin typeface="Calibri"/>
              </a:rPr>
              <a:t>isLoggedIn?</a:t>
            </a:r>
          </a:p>
        </p:txBody>
      </p:sp>
      <p:cxnSp>
        <p:nvCxnSpPr>
          <p:cNvPr id="9" name="Connector 8"/>
          <p:cNvCxnSpPr/>
          <p:nvPr/>
        </p:nvCxnSpPr>
        <p:spPr>
          <a:xfrm flipH="1">
            <a:off x="1737360" y="3611880"/>
            <a:ext cx="137159" cy="13716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2920" y="3749040"/>
            <a:ext cx="2468880" cy="594360"/>
          </a:xfrm>
          <a:prstGeom prst="roundRect">
            <a:avLst/>
          </a:prstGeom>
          <a:solidFill>
            <a:srgbClr val="C6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false → redirect</a:t>
            </a:r>
          </a:p>
          <a:p>
            <a:pPr algn="ctr"/>
            <a:r>
              <a:rPr sz="1150" b="1">
                <a:solidFill>
                  <a:srgbClr val="FFFFFF"/>
                </a:solidFill>
                <a:latin typeface="Calibri"/>
              </a:rPr>
              <a:t>/login</a:t>
            </a:r>
          </a:p>
        </p:txBody>
      </p:sp>
      <p:cxnSp>
        <p:nvCxnSpPr>
          <p:cNvPr id="11" name="Connector 10"/>
          <p:cNvCxnSpPr/>
          <p:nvPr/>
        </p:nvCxnSpPr>
        <p:spPr>
          <a:xfrm>
            <a:off x="4526280" y="3611880"/>
            <a:ext cx="548640" cy="13716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40480" y="3749040"/>
            <a:ext cx="2468880" cy="5943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true &amp; on /login</a:t>
            </a:r>
          </a:p>
          <a:p>
            <a:pPr algn="ctr"/>
            <a:r>
              <a:rPr sz="1100" b="1">
                <a:solidFill>
                  <a:srgbClr val="FFFFFF"/>
                </a:solidFill>
                <a:latin typeface="Calibri"/>
              </a:rPr>
              <a:t>→ redirect /home</a:t>
            </a:r>
          </a:p>
        </p:txBody>
      </p:sp>
      <p:sp>
        <p:nvSpPr>
          <p:cNvPr id="13" name="TextBox 12"/>
          <p:cNvSpPr txBox="1"/>
          <p:nvPr/>
        </p:nvSpPr>
        <p:spPr>
          <a:xfrm>
            <a:off x="502920" y="4526280"/>
            <a:ext cx="5806440" cy="777240"/>
          </a:xfrm>
          <a:prstGeom prst="rect">
            <a:avLst/>
          </a:prstGeom>
          <a:noFill/>
        </p:spPr>
        <p:txBody>
          <a:bodyPr wrap="square" anchor="t" lIns="0" rIns="0" tIns="0" bIns="0">
            <a:spAutoFit/>
          </a:bodyPr>
          <a:lstStyle/>
          <a:p>
            <a:pPr algn="l"/>
            <a:r>
              <a:rPr sz="1150" b="0" i="1">
                <a:solidFill>
                  <a:srgbClr val="5B6675"/>
                </a:solidFill>
                <a:latin typeface="Calibri"/>
              </a:rPr>
              <a:t>refreshListenable: AppSession.instance — the router re-evaluates the</a:t>
            </a:r>
          </a:p>
          <a:p>
            <a:pPr algn="l"/>
            <a:r>
              <a:rPr sz="1150" b="0" i="1">
                <a:solidFill>
                  <a:srgbClr val="5B6675"/>
                </a:solidFill>
                <a:latin typeface="Calibri"/>
              </a:rPr>
              <a:t>guard automatically on every login/logout, no manual navigation calls needed.</a:t>
            </a:r>
          </a:p>
        </p:txBody>
      </p:sp>
      <p:sp>
        <p:nvSpPr>
          <p:cNvPr id="14" name="TextBox 13"/>
          <p:cNvSpPr txBox="1"/>
          <p:nvPr/>
        </p:nvSpPr>
        <p:spPr>
          <a:xfrm>
            <a:off x="6492240" y="1691640"/>
            <a:ext cx="5120640" cy="365760"/>
          </a:xfrm>
          <a:prstGeom prst="rect">
            <a:avLst/>
          </a:prstGeom>
          <a:noFill/>
        </p:spPr>
        <p:txBody>
          <a:bodyPr wrap="square" anchor="t" lIns="0" rIns="0" tIns="0" bIns="0">
            <a:spAutoFit/>
          </a:bodyPr>
          <a:lstStyle/>
          <a:p>
            <a:pPr algn="l"/>
            <a:r>
              <a:rPr sz="1400" b="1" i="0">
                <a:solidFill>
                  <a:srgbClr val="0B243D"/>
                </a:solidFill>
                <a:latin typeface="Calibri"/>
              </a:rPr>
              <a:t>Declared Routes</a:t>
            </a:r>
          </a:p>
        </p:txBody>
      </p:sp>
      <p:sp>
        <p:nvSpPr>
          <p:cNvPr id="15" name="Rectangle 14"/>
          <p:cNvSpPr/>
          <p:nvPr/>
        </p:nvSpPr>
        <p:spPr>
          <a:xfrm>
            <a:off x="6492240" y="2148840"/>
            <a:ext cx="5120640" cy="77724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2240280"/>
            <a:ext cx="4754880" cy="320040"/>
          </a:xfrm>
          <a:prstGeom prst="rect">
            <a:avLst/>
          </a:prstGeom>
          <a:noFill/>
        </p:spPr>
        <p:txBody>
          <a:bodyPr wrap="square" anchor="t" lIns="0" rIns="0" tIns="0" bIns="0">
            <a:spAutoFit/>
          </a:bodyPr>
          <a:lstStyle/>
          <a:p>
            <a:pPr algn="l"/>
            <a:r>
              <a:rPr sz="1500" b="1" i="0">
                <a:solidFill>
                  <a:srgbClr val="02569B"/>
                </a:solidFill>
                <a:latin typeface="Consolas"/>
              </a:rPr>
              <a:t>/login</a:t>
            </a:r>
          </a:p>
        </p:txBody>
      </p:sp>
      <p:sp>
        <p:nvSpPr>
          <p:cNvPr id="17" name="TextBox 16"/>
          <p:cNvSpPr txBox="1"/>
          <p:nvPr/>
        </p:nvSpPr>
        <p:spPr>
          <a:xfrm>
            <a:off x="6656832" y="2560320"/>
            <a:ext cx="4754880" cy="320040"/>
          </a:xfrm>
          <a:prstGeom prst="rect">
            <a:avLst/>
          </a:prstGeom>
          <a:noFill/>
        </p:spPr>
        <p:txBody>
          <a:bodyPr wrap="square" anchor="t" lIns="0" rIns="0" tIns="0" bIns="0">
            <a:spAutoFit/>
          </a:bodyPr>
          <a:lstStyle/>
          <a:p>
            <a:pPr algn="l"/>
            <a:r>
              <a:rPr sz="1150" b="0" i="0">
                <a:solidFill>
                  <a:srgbClr val="222B38"/>
                </a:solidFill>
                <a:latin typeface="Calibri"/>
              </a:rPr>
              <a:t>LoginPage — supports ?reason=session-expired</a:t>
            </a:r>
          </a:p>
        </p:txBody>
      </p:sp>
      <p:sp>
        <p:nvSpPr>
          <p:cNvPr id="18" name="Rectangle 17"/>
          <p:cNvSpPr/>
          <p:nvPr/>
        </p:nvSpPr>
        <p:spPr>
          <a:xfrm>
            <a:off x="6492240" y="3063240"/>
            <a:ext cx="5120640" cy="77724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56832" y="3154680"/>
            <a:ext cx="4754880" cy="320040"/>
          </a:xfrm>
          <a:prstGeom prst="rect">
            <a:avLst/>
          </a:prstGeom>
          <a:noFill/>
        </p:spPr>
        <p:txBody>
          <a:bodyPr wrap="square" anchor="t" lIns="0" rIns="0" tIns="0" bIns="0">
            <a:spAutoFit/>
          </a:bodyPr>
          <a:lstStyle/>
          <a:p>
            <a:pPr algn="l"/>
            <a:r>
              <a:rPr sz="1500" b="1" i="0">
                <a:solidFill>
                  <a:srgbClr val="02569B"/>
                </a:solidFill>
                <a:latin typeface="Consolas"/>
              </a:rPr>
              <a:t>/home</a:t>
            </a:r>
          </a:p>
        </p:txBody>
      </p:sp>
      <p:sp>
        <p:nvSpPr>
          <p:cNvPr id="20" name="TextBox 19"/>
          <p:cNvSpPr txBox="1"/>
          <p:nvPr/>
        </p:nvSpPr>
        <p:spPr>
          <a:xfrm>
            <a:off x="6656832" y="3474720"/>
            <a:ext cx="4754880" cy="320040"/>
          </a:xfrm>
          <a:prstGeom prst="rect">
            <a:avLst/>
          </a:prstGeom>
          <a:noFill/>
        </p:spPr>
        <p:txBody>
          <a:bodyPr wrap="square" anchor="t" lIns="0" rIns="0" tIns="0" bIns="0">
            <a:spAutoFit/>
          </a:bodyPr>
          <a:lstStyle/>
          <a:p>
            <a:pPr algn="l"/>
            <a:r>
              <a:rPr sz="1150" b="0" i="0">
                <a:solidFill>
                  <a:srgbClr val="222B38"/>
                </a:solidFill>
                <a:latin typeface="Calibri"/>
              </a:rPr>
              <a:t>HomePage — Capture / Visualization shell</a:t>
            </a:r>
          </a:p>
        </p:txBody>
      </p:sp>
      <p:sp>
        <p:nvSpPr>
          <p:cNvPr id="21" name="Rectangle 20"/>
          <p:cNvSpPr/>
          <p:nvPr/>
        </p:nvSpPr>
        <p:spPr>
          <a:xfrm>
            <a:off x="6492240" y="3977640"/>
            <a:ext cx="5120640" cy="77724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56832" y="4069080"/>
            <a:ext cx="4754880" cy="320040"/>
          </a:xfrm>
          <a:prstGeom prst="rect">
            <a:avLst/>
          </a:prstGeom>
          <a:noFill/>
        </p:spPr>
        <p:txBody>
          <a:bodyPr wrap="square" anchor="t" lIns="0" rIns="0" tIns="0" bIns="0">
            <a:spAutoFit/>
          </a:bodyPr>
          <a:lstStyle/>
          <a:p>
            <a:pPr algn="l"/>
            <a:r>
              <a:rPr sz="1500" b="1" i="0">
                <a:solidFill>
                  <a:srgbClr val="02569B"/>
                </a:solidFill>
                <a:latin typeface="Consolas"/>
              </a:rPr>
              <a:t>/settings</a:t>
            </a:r>
          </a:p>
        </p:txBody>
      </p:sp>
      <p:sp>
        <p:nvSpPr>
          <p:cNvPr id="23" name="TextBox 22"/>
          <p:cNvSpPr txBox="1"/>
          <p:nvPr/>
        </p:nvSpPr>
        <p:spPr>
          <a:xfrm>
            <a:off x="6656832" y="4389120"/>
            <a:ext cx="4754880" cy="320040"/>
          </a:xfrm>
          <a:prstGeom prst="rect">
            <a:avLst/>
          </a:prstGeom>
          <a:noFill/>
        </p:spPr>
        <p:txBody>
          <a:bodyPr wrap="square" anchor="t" lIns="0" rIns="0" tIns="0" bIns="0">
            <a:spAutoFit/>
          </a:bodyPr>
          <a:lstStyle/>
          <a:p>
            <a:pPr algn="l"/>
            <a:r>
              <a:rPr sz="1150" b="0" i="0">
                <a:solidFill>
                  <a:srgbClr val="222B38"/>
                </a:solidFill>
                <a:latin typeface="Calibri"/>
              </a:rPr>
              <a:t>SettingsPage — server URL, profile, logout</a:t>
            </a:r>
          </a:p>
        </p:txBody>
      </p:sp>
      <p:sp>
        <p:nvSpPr>
          <p:cNvPr id="24" name="TextBox 23"/>
          <p:cNvSpPr txBox="1"/>
          <p:nvPr/>
        </p:nvSpPr>
        <p:spPr>
          <a:xfrm>
            <a:off x="6492240" y="4937760"/>
            <a:ext cx="5120640" cy="914400"/>
          </a:xfrm>
          <a:prstGeom prst="rect">
            <a:avLst/>
          </a:prstGeom>
          <a:noFill/>
        </p:spPr>
        <p:txBody>
          <a:bodyPr wrap="square" anchor="t" lIns="0" rIns="0" tIns="0" bIns="0">
            <a:spAutoFit/>
          </a:bodyPr>
          <a:lstStyle/>
          <a:p>
            <a:pPr algn="l"/>
            <a:r>
              <a:rPr sz="1150" b="0" i="1">
                <a:solidFill>
                  <a:srgbClr val="5B6675"/>
                </a:solidFill>
                <a:latin typeface="Calibri"/>
              </a:rPr>
              <a:t>Detail flows (dataset → data entry) intentionally use Navigator.push,</a:t>
            </a:r>
          </a:p>
          <a:p>
            <a:pPr algn="l"/>
            <a:r>
              <a:rPr sz="1150" b="0" i="1">
                <a:solidFill>
                  <a:srgbClr val="5B6675"/>
                </a:solidFill>
                <a:latin typeface="Calibri"/>
              </a:rPr>
              <a:t>not named sub-routes — a deliberate choice to keep the URL space small</a:t>
            </a:r>
          </a:p>
          <a:p>
            <a:pPr algn="l"/>
            <a:r>
              <a:rPr sz="1150" b="0" i="1">
                <a:solidFill>
                  <a:srgbClr val="5B6675"/>
                </a:solidFill>
                <a:latin typeface="Calibri"/>
              </a:rPr>
              <a:t>and the back-stack behavior standard Material.</a:t>
            </a:r>
          </a:p>
        </p:txBody>
      </p:sp>
      <p:sp>
        <p:nvSpPr>
          <p:cNvPr id="25" name="TextBox 24"/>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6" name="TextBox 25"/>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STATE MANAGEMENT</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flutter_bloc — Predictable, Testable State</a:t>
            </a:r>
          </a:p>
        </p:txBody>
      </p:sp>
      <p:sp>
        <p:nvSpPr>
          <p:cNvPr id="6" name="Rounded Rectangle 5"/>
          <p:cNvSpPr/>
          <p:nvPr/>
        </p:nvSpPr>
        <p:spPr>
          <a:xfrm>
            <a:off x="502920" y="1828800"/>
            <a:ext cx="1965960" cy="822960"/>
          </a:xfrm>
          <a:prstGeom prst="round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UI</a:t>
            </a:r>
          </a:p>
          <a:p>
            <a:pPr algn="ctr"/>
            <a:r>
              <a:rPr sz="1250" b="1">
                <a:solidFill>
                  <a:srgbClr val="FFFFFF"/>
                </a:solidFill>
                <a:latin typeface="Calibri"/>
              </a:rPr>
              <a:t>(user action)</a:t>
            </a:r>
          </a:p>
        </p:txBody>
      </p:sp>
      <p:cxnSp>
        <p:nvCxnSpPr>
          <p:cNvPr id="7" name="Connector 6"/>
          <p:cNvCxnSpPr/>
          <p:nvPr/>
        </p:nvCxnSpPr>
        <p:spPr>
          <a:xfrm>
            <a:off x="2468880" y="2240280"/>
            <a:ext cx="22860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697480" y="1828800"/>
            <a:ext cx="1965960" cy="822960"/>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Event</a:t>
            </a:r>
          </a:p>
        </p:txBody>
      </p:sp>
      <p:cxnSp>
        <p:nvCxnSpPr>
          <p:cNvPr id="9" name="Connector 8"/>
          <p:cNvCxnSpPr/>
          <p:nvPr/>
        </p:nvCxnSpPr>
        <p:spPr>
          <a:xfrm>
            <a:off x="4663440" y="2240280"/>
            <a:ext cx="22860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92040" y="1828800"/>
            <a:ext cx="1965960" cy="822960"/>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Bloc</a:t>
            </a:r>
          </a:p>
          <a:p>
            <a:pPr algn="ctr"/>
            <a:r>
              <a:rPr sz="1250" b="1">
                <a:solidFill>
                  <a:srgbClr val="FFFFFF"/>
                </a:solidFill>
                <a:latin typeface="Calibri"/>
              </a:rPr>
              <a:t>(business logic)</a:t>
            </a:r>
          </a:p>
        </p:txBody>
      </p:sp>
      <p:cxnSp>
        <p:nvCxnSpPr>
          <p:cNvPr id="11" name="Connector 10"/>
          <p:cNvCxnSpPr/>
          <p:nvPr/>
        </p:nvCxnSpPr>
        <p:spPr>
          <a:xfrm>
            <a:off x="6858000" y="2240280"/>
            <a:ext cx="22860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086600" y="1828800"/>
            <a:ext cx="1965960" cy="822960"/>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State</a:t>
            </a:r>
          </a:p>
        </p:txBody>
      </p:sp>
      <p:cxnSp>
        <p:nvCxnSpPr>
          <p:cNvPr id="13" name="Connector 12"/>
          <p:cNvCxnSpPr/>
          <p:nvPr/>
        </p:nvCxnSpPr>
        <p:spPr>
          <a:xfrm>
            <a:off x="9052560" y="2240280"/>
            <a:ext cx="22860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281160" y="1828800"/>
            <a:ext cx="1965960" cy="822960"/>
          </a:xfrm>
          <a:prstGeom prst="round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UI</a:t>
            </a:r>
          </a:p>
          <a:p>
            <a:pPr algn="ctr"/>
            <a:r>
              <a:rPr sz="1250" b="1">
                <a:solidFill>
                  <a:srgbClr val="FFFFFF"/>
                </a:solidFill>
                <a:latin typeface="Calibri"/>
              </a:rPr>
              <a:t>(rebuild)</a:t>
            </a:r>
          </a:p>
        </p:txBody>
      </p:sp>
      <p:sp>
        <p:nvSpPr>
          <p:cNvPr id="15" name="TextBox 14"/>
          <p:cNvSpPr txBox="1"/>
          <p:nvPr/>
        </p:nvSpPr>
        <p:spPr>
          <a:xfrm>
            <a:off x="502920" y="2880360"/>
            <a:ext cx="11155680" cy="365760"/>
          </a:xfrm>
          <a:prstGeom prst="rect">
            <a:avLst/>
          </a:prstGeom>
          <a:noFill/>
        </p:spPr>
        <p:txBody>
          <a:bodyPr wrap="square" anchor="t" lIns="0" rIns="0" tIns="0" bIns="0">
            <a:spAutoFit/>
          </a:bodyPr>
          <a:lstStyle/>
          <a:p>
            <a:pPr algn="l"/>
            <a:r>
              <a:rPr sz="1200" b="0" i="1">
                <a:solidFill>
                  <a:srgbClr val="5B6675"/>
                </a:solidFill>
                <a:latin typeface="Calibri"/>
              </a:rPr>
              <a:t>Unidirectional data flow: the UI never mutates state directly — it only dispatches events and rebuilds from what the Bloc emits.</a:t>
            </a:r>
          </a:p>
        </p:txBody>
      </p:sp>
      <p:sp>
        <p:nvSpPr>
          <p:cNvPr id="16" name="TextBox 15"/>
          <p:cNvSpPr txBox="1"/>
          <p:nvPr/>
        </p:nvSpPr>
        <p:spPr>
          <a:xfrm>
            <a:off x="502920" y="3474720"/>
            <a:ext cx="5989320" cy="320040"/>
          </a:xfrm>
          <a:prstGeom prst="rect">
            <a:avLst/>
          </a:prstGeom>
          <a:noFill/>
        </p:spPr>
        <p:txBody>
          <a:bodyPr wrap="square" anchor="t" lIns="0" rIns="0" tIns="0" bIns="0">
            <a:spAutoFit/>
          </a:bodyPr>
          <a:lstStyle/>
          <a:p>
            <a:pPr algn="l"/>
            <a:r>
              <a:rPr sz="1500" b="1" i="0">
                <a:solidFill>
                  <a:srgbClr val="0B243D"/>
                </a:solidFill>
                <a:latin typeface="Calibri"/>
              </a:rPr>
              <a:t>AuthBloc</a:t>
            </a:r>
          </a:p>
        </p:txBody>
      </p:sp>
      <p:sp>
        <p:nvSpPr>
          <p:cNvPr id="17" name="TextBox 16"/>
          <p:cNvSpPr txBox="1"/>
          <p:nvPr/>
        </p:nvSpPr>
        <p:spPr>
          <a:xfrm>
            <a:off x="502920" y="3840480"/>
            <a:ext cx="5989320" cy="2194560"/>
          </a:xfrm>
          <a:prstGeom prst="rect">
            <a:avLst/>
          </a:prstGeom>
          <a:noFill/>
        </p:spPr>
        <p:txBody>
          <a:bodyPr wrap="square" anchor="t" lIns="0" rIns="0">
            <a:spAutoFit/>
          </a:bodyPr>
          <a:lstStyle/>
          <a:p>
            <a:pPr marL="0" indent="0">
              <a:spcAft>
                <a:spcPts val="800"/>
              </a:spcAft>
            </a:pPr>
            <a:r>
              <a:rPr sz="1250" b="0">
                <a:solidFill>
                  <a:srgbClr val="222B38"/>
                </a:solidFill>
                <a:latin typeface="Calibri"/>
              </a:rPr>
              <a:t>•  Events: LoginSubmitted, LogoutRequested, AuthCheckRequested</a:t>
            </a:r>
          </a:p>
          <a:p>
            <a:pPr marL="0" indent="0">
              <a:spcAft>
                <a:spcPts val="800"/>
              </a:spcAft>
            </a:pPr>
            <a:r>
              <a:rPr sz="1250" b="0">
                <a:solidFill>
                  <a:srgbClr val="222B38"/>
                </a:solidFill>
                <a:latin typeface="Calibri"/>
              </a:rPr>
              <a:t>•  States: AuthInitial, AuthCheckInProgress, AuthAuthenticated, AuthUnauthenticated, AuthFailureState</a:t>
            </a:r>
          </a:p>
          <a:p>
            <a:pPr marL="0" indent="0">
              <a:spcAft>
                <a:spcPts val="800"/>
              </a:spcAft>
            </a:pPr>
            <a:r>
              <a:rPr sz="1250" b="0">
                <a:solidFill>
                  <a:srgbClr val="222B38"/>
                </a:solidFill>
                <a:latin typeface="Calibri"/>
              </a:rPr>
              <a:t>•  LoginPage uses BlocConsumer: listener navigates to /home on AuthAuthenticated, builder swaps loader ↔ form</a:t>
            </a:r>
          </a:p>
        </p:txBody>
      </p:sp>
      <p:sp>
        <p:nvSpPr>
          <p:cNvPr id="18" name="TextBox 17"/>
          <p:cNvSpPr txBox="1"/>
          <p:nvPr/>
        </p:nvSpPr>
        <p:spPr>
          <a:xfrm>
            <a:off x="5669280" y="3474720"/>
            <a:ext cx="5989320" cy="320040"/>
          </a:xfrm>
          <a:prstGeom prst="rect">
            <a:avLst/>
          </a:prstGeom>
          <a:noFill/>
        </p:spPr>
        <p:txBody>
          <a:bodyPr wrap="square" anchor="t" lIns="0" rIns="0" tIns="0" bIns="0">
            <a:spAutoFit/>
          </a:bodyPr>
          <a:lstStyle/>
          <a:p>
            <a:pPr algn="l"/>
            <a:r>
              <a:rPr sz="1500" b="1" i="0">
                <a:solidFill>
                  <a:srgbClr val="0B243D"/>
                </a:solidFill>
                <a:latin typeface="Calibri"/>
              </a:rPr>
              <a:t>DataEntryBloc</a:t>
            </a:r>
          </a:p>
        </p:txBody>
      </p:sp>
      <p:sp>
        <p:nvSpPr>
          <p:cNvPr id="19" name="TextBox 18"/>
          <p:cNvSpPr txBox="1"/>
          <p:nvPr/>
        </p:nvSpPr>
        <p:spPr>
          <a:xfrm>
            <a:off x="5669280" y="3840480"/>
            <a:ext cx="5989320" cy="2194560"/>
          </a:xfrm>
          <a:prstGeom prst="rect">
            <a:avLst/>
          </a:prstGeom>
          <a:noFill/>
        </p:spPr>
        <p:txBody>
          <a:bodyPr wrap="square" anchor="t" lIns="0" rIns="0">
            <a:spAutoFit/>
          </a:bodyPr>
          <a:lstStyle/>
          <a:p>
            <a:pPr marL="0" indent="0">
              <a:spcAft>
                <a:spcPts val="800"/>
              </a:spcAft>
            </a:pPr>
            <a:r>
              <a:rPr sz="1250" b="0">
                <a:solidFill>
                  <a:srgbClr val="222B38"/>
                </a:solidFill>
                <a:latin typeface="Calibri"/>
              </a:rPr>
              <a:t>•  Events: DataEntryLoad, DataEntryValueChanged, DataEntrySave</a:t>
            </a:r>
          </a:p>
          <a:p>
            <a:pPr marL="0" indent="0">
              <a:spcAft>
                <a:spcPts val="800"/>
              </a:spcAft>
            </a:pPr>
            <a:r>
              <a:rPr sz="1250" b="0">
                <a:solidFill>
                  <a:srgbClr val="222B38"/>
                </a:solidFill>
                <a:latin typeface="Calibri"/>
              </a:rPr>
              <a:t>•  States: DataEntryLoading, DataEntryLoaded, DataEntrySaving, DataEntrySaved, DataEntryError</a:t>
            </a:r>
          </a:p>
          <a:p>
            <a:pPr marL="0" indent="0">
              <a:spcAft>
                <a:spcPts val="800"/>
              </a:spcAft>
            </a:pPr>
            <a:r>
              <a:rPr sz="1250" b="0">
                <a:solidFill>
                  <a:srgbClr val="222B38"/>
                </a:solidFill>
                <a:latin typeface="Calibri"/>
              </a:rPr>
              <a:t>•  DataEntryPage uses BlocBuilder to switch between loader, form table, and error views</a:t>
            </a:r>
          </a:p>
        </p:txBody>
      </p:sp>
      <p:sp>
        <p:nvSpPr>
          <p:cNvPr id="20" name="TextBox 19"/>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1" name="TextBox 20"/>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REPOSITORY PATTERN &amp; USE CASES</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One Contract, One Implementation, One Job Each</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300"/>
              </a:spcAft>
            </a:pPr>
            <a:r>
              <a:rPr sz="1550" b="0">
                <a:solidFill>
                  <a:srgbClr val="222B38"/>
                </a:solidFill>
                <a:latin typeface="Calibri"/>
              </a:rPr>
              <a:t>▸  Every feature defines a Repository interface in domain/ and exactly one implementation in data/.</a:t>
            </a:r>
          </a:p>
          <a:p>
            <a:pPr marL="256032" indent="0">
              <a:spcAft>
                <a:spcPts val="1300"/>
              </a:spcAft>
            </a:pPr>
            <a:r>
              <a:rPr sz="1350" b="0">
                <a:solidFill>
                  <a:srgbClr val="5B6675"/>
                </a:solidFill>
                <a:latin typeface="Calibri"/>
              </a:rPr>
              <a:t>–  Example: AuthRepository (4-method interface) ↔ AuthRepositoryImpl — branches between online and offline login via SessionService.</a:t>
            </a:r>
          </a:p>
          <a:p>
            <a:pPr marL="256032" indent="0">
              <a:spcAft>
                <a:spcPts val="1300"/>
              </a:spcAft>
            </a:pPr>
            <a:r>
              <a:rPr sz="1350" b="0">
                <a:solidFill>
                  <a:srgbClr val="5B6675"/>
                </a:solidFill>
                <a:latin typeface="Calibri"/>
              </a:rPr>
              <a:t>–  Example: DataEntryRepository (6 methods: get elements, get/save values, complete/uncomplete, isCompleted) ↔ DataEntryRepositoryImpl.</a:t>
            </a:r>
          </a:p>
          <a:p>
            <a:pPr marL="0" indent="0">
              <a:spcAft>
                <a:spcPts val="1300"/>
              </a:spcAft>
            </a:pPr>
            <a:r>
              <a:rPr sz="1550" b="0">
                <a:solidFill>
                  <a:srgbClr val="222B38"/>
                </a:solidFill>
                <a:latin typeface="Calibri"/>
              </a:rPr>
              <a:t>▸  Use cases are deliberately thin — one class, one responsibility, calling straight through to the repository.</a:t>
            </a:r>
          </a:p>
          <a:p>
            <a:pPr marL="256032" indent="0">
              <a:spcAft>
                <a:spcPts val="1300"/>
              </a:spcAft>
            </a:pPr>
            <a:r>
              <a:rPr sz="1350" b="0">
                <a:solidFill>
                  <a:srgbClr val="5B6675"/>
                </a:solidFill>
                <a:latin typeface="Calibri"/>
              </a:rPr>
              <a:t>–  LoginUseCase trims and validates input before calling repository.login(); SaveDataValuesUseCase filters to only modified values before saving.</a:t>
            </a:r>
          </a:p>
          <a:p>
            <a:pPr marL="0" indent="0">
              <a:spcAft>
                <a:spcPts val="1300"/>
              </a:spcAft>
            </a:pPr>
            <a:r>
              <a:rPr sz="1550" b="0">
                <a:solidFill>
                  <a:srgbClr val="222B38"/>
                </a:solidFill>
                <a:latin typeface="Calibri"/>
              </a:rPr>
              <a:t>▸  Why this matters: repositories can be swapped for fakes in tests without touching UI or network code — this is exactly how the offline-sync test suite works today (in-memory Drift database, no real server).</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MODELS, DTOS &amp; ENTITIES</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One-Way Mapping: API JSON → Model → Entity</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600"/>
              </a:spcAft>
            </a:pPr>
            <a:r>
              <a:rPr sz="1700" b="0">
                <a:solidFill>
                  <a:srgbClr val="222B38"/>
                </a:solidFill>
                <a:latin typeface="Calibri"/>
              </a:rPr>
              <a:t>▸  Domain Entities are pure Dart with no JSON awareness — UserEntity, DataElementEntity, DataValueEntity, OrgUnitEntity.</a:t>
            </a:r>
          </a:p>
          <a:p>
            <a:pPr marL="0" indent="0">
              <a:spcAft>
                <a:spcPts val="1600"/>
              </a:spcAft>
            </a:pPr>
            <a:r>
              <a:rPr sz="1700" b="0">
                <a:solidFill>
                  <a:srgbClr val="222B38"/>
                </a:solidFill>
                <a:latin typeface="Calibri"/>
              </a:rPr>
              <a:t>▸  Data Models extend the entities and add the DHIS2 REST API boundary: fromJson() / toJson() (e.g. UserModel extends UserEntity).</a:t>
            </a:r>
          </a:p>
          <a:p>
            <a:pPr marL="0" indent="0">
              <a:spcAft>
                <a:spcPts val="1600"/>
              </a:spcAft>
            </a:pPr>
            <a:r>
              <a:rPr sz="1700" b="0">
                <a:solidFill>
                  <a:srgbClr val="222B38"/>
                </a:solidFill>
                <a:latin typeface="Calibri"/>
              </a:rPr>
              <a:t>▸  Local persistence uses Drift's generated, type-safe row classes — one Dart class is auto-derived per table straight from the schema, so there is no hand-written, error-prone SQL mapping.</a:t>
            </a:r>
          </a:p>
          <a:p>
            <a:pPr marL="0" indent="0">
              <a:spcAft>
                <a:spcPts val="1600"/>
              </a:spcAft>
            </a:pPr>
            <a:r>
              <a:rPr sz="1700" b="0">
                <a:solidFill>
                  <a:srgbClr val="222B38"/>
                </a:solidFill>
                <a:latin typeface="Calibri"/>
              </a:rPr>
              <a:t>▸  Domain code (use cases, blocs) only ever sees Entities — raw JSON never crosses into business logic.</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APPLICATION WORKFLOW — PART 1 OF 2</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Open App → Local Storage Ready</a:t>
            </a:r>
          </a:p>
        </p:txBody>
      </p:sp>
      <p:sp>
        <p:nvSpPr>
          <p:cNvPr id="6" name="Rounded Rectangle 5"/>
          <p:cNvSpPr/>
          <p:nvPr/>
        </p:nvSpPr>
        <p:spPr>
          <a:xfrm>
            <a:off x="502920" y="1645920"/>
            <a:ext cx="6949440" cy="658368"/>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① Open App — AppSession checks for a cached login</a:t>
            </a:r>
          </a:p>
        </p:txBody>
      </p:sp>
      <p:sp>
        <p:nvSpPr>
          <p:cNvPr id="7" name="TextBox 6"/>
          <p:cNvSpPr txBox="1"/>
          <p:nvPr/>
        </p:nvSpPr>
        <p:spPr>
          <a:xfrm>
            <a:off x="7635240" y="16459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lib/core/auth/app_session.dart</a:t>
            </a:r>
          </a:p>
        </p:txBody>
      </p:sp>
      <p:cxnSp>
        <p:nvCxnSpPr>
          <p:cNvPr id="8" name="Connector 7"/>
          <p:cNvCxnSpPr/>
          <p:nvPr/>
        </p:nvCxnSpPr>
        <p:spPr>
          <a:xfrm>
            <a:off x="3977640" y="2304288"/>
            <a:ext cx="0" cy="141732"/>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2446020"/>
            <a:ext cx="6949440" cy="658368"/>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② Authenticate — Basic Auth online (GET /api/me) OR offline SHA-256 verifier check</a:t>
            </a:r>
          </a:p>
        </p:txBody>
      </p:sp>
      <p:sp>
        <p:nvSpPr>
          <p:cNvPr id="10" name="TextBox 9"/>
          <p:cNvSpPr txBox="1"/>
          <p:nvPr/>
        </p:nvSpPr>
        <p:spPr>
          <a:xfrm>
            <a:off x="7635240" y="24460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lib/core/auth/session_service.dart</a:t>
            </a:r>
          </a:p>
        </p:txBody>
      </p:sp>
      <p:cxnSp>
        <p:nvCxnSpPr>
          <p:cNvPr id="11" name="Connector 10"/>
          <p:cNvCxnSpPr/>
          <p:nvPr/>
        </p:nvCxnSpPr>
        <p:spPr>
          <a:xfrm>
            <a:off x="3977640" y="3104388"/>
            <a:ext cx="0" cy="141732"/>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3246120"/>
            <a:ext cx="6949440" cy="658368"/>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③ Sync Metadata — full sync (first login) or delta sync, dependency-ordered</a:t>
            </a:r>
          </a:p>
        </p:txBody>
      </p:sp>
      <p:sp>
        <p:nvSpPr>
          <p:cNvPr id="13" name="TextBox 12"/>
          <p:cNvSpPr txBox="1"/>
          <p:nvPr/>
        </p:nvSpPr>
        <p:spPr>
          <a:xfrm>
            <a:off x="7635240" y="32461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lib/core/metadata/metadata_sync_service.dart</a:t>
            </a:r>
          </a:p>
        </p:txBody>
      </p:sp>
      <p:cxnSp>
        <p:nvCxnSpPr>
          <p:cNvPr id="14" name="Connector 13"/>
          <p:cNvCxnSpPr/>
          <p:nvPr/>
        </p:nvCxnSpPr>
        <p:spPr>
          <a:xfrm>
            <a:off x="3977640" y="3904488"/>
            <a:ext cx="0" cy="141732"/>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 y="4046220"/>
            <a:ext cx="6949440" cy="658368"/>
          </a:xfrm>
          <a:prstGeom prst="round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④ Open Per-User SQLite DB (Drift) — hisp_&lt;username&gt;.sqlite, isolated per user</a:t>
            </a:r>
          </a:p>
        </p:txBody>
      </p:sp>
      <p:sp>
        <p:nvSpPr>
          <p:cNvPr id="16" name="TextBox 15"/>
          <p:cNvSpPr txBox="1"/>
          <p:nvPr/>
        </p:nvSpPr>
        <p:spPr>
          <a:xfrm>
            <a:off x="7635240" y="40462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lib/core/database/app_database.dart</a:t>
            </a:r>
          </a:p>
        </p:txBody>
      </p:sp>
      <p:cxnSp>
        <p:nvCxnSpPr>
          <p:cNvPr id="17" name="Connector 16"/>
          <p:cNvCxnSpPr/>
          <p:nvPr/>
        </p:nvCxnSpPr>
        <p:spPr>
          <a:xfrm>
            <a:off x="3977640" y="4704588"/>
            <a:ext cx="0" cy="141732"/>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4846320"/>
            <a:ext cx="6949440" cy="658368"/>
          </a:xfrm>
          <a:prstGeom prst="round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⑤ Display Org Units → Datasets — lazily loaded, scoped to the user's own subtree</a:t>
            </a:r>
          </a:p>
        </p:txBody>
      </p:sp>
      <p:sp>
        <p:nvSpPr>
          <p:cNvPr id="19" name="TextBox 18"/>
          <p:cNvSpPr txBox="1"/>
          <p:nvPr/>
        </p:nvSpPr>
        <p:spPr>
          <a:xfrm>
            <a:off x="7635240" y="48463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lib/features/capture/</a:t>
            </a:r>
          </a:p>
        </p:txBody>
      </p:sp>
      <p:sp>
        <p:nvSpPr>
          <p:cNvPr id="20" name="TextBox 19"/>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1" name="TextBox 20"/>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APPLICATION WORKFLOW — PART 2 OF 2</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Capture Data → Reach the DHIS2 Server</a:t>
            </a:r>
          </a:p>
        </p:txBody>
      </p:sp>
      <p:sp>
        <p:nvSpPr>
          <p:cNvPr id="6" name="Rounded Rectangle 5"/>
          <p:cNvSpPr/>
          <p:nvPr/>
        </p:nvSpPr>
        <p:spPr>
          <a:xfrm>
            <a:off x="502920" y="1645920"/>
            <a:ext cx="6949440" cy="658368"/>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⑥ Open Data Entry Form — Section → Period → Cells</a:t>
            </a:r>
          </a:p>
        </p:txBody>
      </p:sp>
      <p:sp>
        <p:nvSpPr>
          <p:cNvPr id="7" name="TextBox 6"/>
          <p:cNvSpPr txBox="1"/>
          <p:nvPr/>
        </p:nvSpPr>
        <p:spPr>
          <a:xfrm>
            <a:off x="7635240" y="16459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lib/features/data_entry/presentation/</a:t>
            </a:r>
          </a:p>
        </p:txBody>
      </p:sp>
      <p:cxnSp>
        <p:nvCxnSpPr>
          <p:cNvPr id="8" name="Connector 7"/>
          <p:cNvCxnSpPr/>
          <p:nvPr/>
        </p:nvCxnSpPr>
        <p:spPr>
          <a:xfrm>
            <a:off x="3977640" y="2304288"/>
            <a:ext cx="0" cy="141732"/>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2446020"/>
            <a:ext cx="6949440" cy="658368"/>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⑦ Save Value as DRAFT — local-only, device-first, nothing sent yet</a:t>
            </a:r>
          </a:p>
        </p:txBody>
      </p:sp>
      <p:sp>
        <p:nvSpPr>
          <p:cNvPr id="10" name="TextBox 9"/>
          <p:cNvSpPr txBox="1"/>
          <p:nvPr/>
        </p:nvSpPr>
        <p:spPr>
          <a:xfrm>
            <a:off x="7635240" y="24460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lib/core/data/data_value_store.dart</a:t>
            </a:r>
          </a:p>
        </p:txBody>
      </p:sp>
      <p:cxnSp>
        <p:nvCxnSpPr>
          <p:cNvPr id="11" name="Connector 10"/>
          <p:cNvCxnSpPr/>
          <p:nvPr/>
        </p:nvCxnSpPr>
        <p:spPr>
          <a:xfrm>
            <a:off x="3977640" y="3104388"/>
            <a:ext cx="0" cy="141732"/>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3246120"/>
            <a:ext cx="6949440" cy="658368"/>
          </a:xfrm>
          <a:prstGeom prst="round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⑧ Complete Form — promote DRAFT rows to PENDING, register completion</a:t>
            </a:r>
          </a:p>
        </p:txBody>
      </p:sp>
      <p:sp>
        <p:nvSpPr>
          <p:cNvPr id="13" name="TextBox 12"/>
          <p:cNvSpPr txBox="1"/>
          <p:nvPr/>
        </p:nvSpPr>
        <p:spPr>
          <a:xfrm>
            <a:off x="7635240" y="32461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lib/core/data/completeness.dart</a:t>
            </a:r>
          </a:p>
        </p:txBody>
      </p:sp>
      <p:cxnSp>
        <p:nvCxnSpPr>
          <p:cNvPr id="14" name="Connector 13"/>
          <p:cNvCxnSpPr/>
          <p:nvPr/>
        </p:nvCxnSpPr>
        <p:spPr>
          <a:xfrm>
            <a:off x="3977640" y="3904488"/>
            <a:ext cx="0" cy="141732"/>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 y="4046220"/>
            <a:ext cx="6949440" cy="658368"/>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⑨ Sync Engine Fires — connectivity restored, login, 5-min heartbeat, or manual button</a:t>
            </a:r>
          </a:p>
        </p:txBody>
      </p:sp>
      <p:sp>
        <p:nvSpPr>
          <p:cNvPr id="16" name="TextBox 15"/>
          <p:cNvSpPr txBox="1"/>
          <p:nvPr/>
        </p:nvSpPr>
        <p:spPr>
          <a:xfrm>
            <a:off x="7635240" y="40462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lib/core/sync/sync_coordinator.dart</a:t>
            </a:r>
          </a:p>
        </p:txBody>
      </p:sp>
      <p:cxnSp>
        <p:nvCxnSpPr>
          <p:cNvPr id="17" name="Connector 16"/>
          <p:cNvCxnSpPr/>
          <p:nvPr/>
        </p:nvCxnSpPr>
        <p:spPr>
          <a:xfrm>
            <a:off x="3977640" y="4704588"/>
            <a:ext cx="0" cy="141732"/>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4846320"/>
            <a:ext cx="6949440" cy="658368"/>
          </a:xfrm>
          <a:prstGeom prst="roundRect">
            <a:avLst/>
          </a:prstGeom>
          <a:solidFill>
            <a:srgbClr val="C6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⑩ Resolve Conflicts &amp; Push — POST /dataValueSets + completeDataSetRegistrations</a:t>
            </a:r>
          </a:p>
        </p:txBody>
      </p:sp>
      <p:sp>
        <p:nvSpPr>
          <p:cNvPr id="19" name="TextBox 18"/>
          <p:cNvSpPr txBox="1"/>
          <p:nvPr/>
        </p:nvSpPr>
        <p:spPr>
          <a:xfrm>
            <a:off x="7635240" y="4846320"/>
            <a:ext cx="4023360" cy="658368"/>
          </a:xfrm>
          <a:prstGeom prst="rect">
            <a:avLst/>
          </a:prstGeom>
          <a:noFill/>
        </p:spPr>
        <p:txBody>
          <a:bodyPr wrap="square" anchor="ctr" lIns="0" rIns="0" tIns="0" bIns="0">
            <a:spAutoFit/>
          </a:bodyPr>
          <a:lstStyle/>
          <a:p>
            <a:pPr algn="l"/>
            <a:r>
              <a:rPr sz="1050" b="0" i="0">
                <a:solidFill>
                  <a:srgbClr val="5B6675"/>
                </a:solidFill>
                <a:latin typeface="Consolas"/>
              </a:rPr>
              <a:t>lib/core/data/data_value_sync.dart · data_value_push.dart</a:t>
            </a:r>
          </a:p>
        </p:txBody>
      </p:sp>
      <p:sp>
        <p:nvSpPr>
          <p:cNvPr id="20" name="TextBox 19"/>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1" name="TextBox 20"/>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AUTHENTICATION</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Two Paths to the Same Secure Session</a:t>
            </a:r>
          </a:p>
        </p:txBody>
      </p:sp>
      <p:sp>
        <p:nvSpPr>
          <p:cNvPr id="6" name="TextBox 5"/>
          <p:cNvSpPr txBox="1"/>
          <p:nvPr/>
        </p:nvSpPr>
        <p:spPr>
          <a:xfrm>
            <a:off x="502920" y="1691640"/>
            <a:ext cx="5349240" cy="365760"/>
          </a:xfrm>
          <a:prstGeom prst="rect">
            <a:avLst/>
          </a:prstGeom>
          <a:noFill/>
        </p:spPr>
        <p:txBody>
          <a:bodyPr wrap="square" anchor="t" lIns="0" rIns="0" tIns="0" bIns="0">
            <a:spAutoFit/>
          </a:bodyPr>
          <a:lstStyle/>
          <a:p>
            <a:pPr algn="ctr"/>
            <a:r>
              <a:rPr sz="1500" b="1" i="0">
                <a:solidFill>
                  <a:srgbClr val="02569B"/>
                </a:solidFill>
                <a:latin typeface="Calibri"/>
              </a:rPr>
              <a:t>ONLINE LOGIN</a:t>
            </a:r>
          </a:p>
        </p:txBody>
      </p:sp>
      <p:sp>
        <p:nvSpPr>
          <p:cNvPr id="7" name="TextBox 6"/>
          <p:cNvSpPr txBox="1"/>
          <p:nvPr/>
        </p:nvSpPr>
        <p:spPr>
          <a:xfrm>
            <a:off x="6263640" y="1691640"/>
            <a:ext cx="5349240" cy="365760"/>
          </a:xfrm>
          <a:prstGeom prst="rect">
            <a:avLst/>
          </a:prstGeom>
          <a:noFill/>
        </p:spPr>
        <p:txBody>
          <a:bodyPr wrap="square" anchor="t" lIns="0" rIns="0" tIns="0" bIns="0">
            <a:spAutoFit/>
          </a:bodyPr>
          <a:lstStyle/>
          <a:p>
            <a:pPr algn="ctr"/>
            <a:r>
              <a:rPr sz="1500" b="1" i="0">
                <a:solidFill>
                  <a:srgbClr val="00A689"/>
                </a:solidFill>
                <a:latin typeface="Calibri"/>
              </a:rPr>
              <a:t>OFFLINE LOGIN</a:t>
            </a:r>
          </a:p>
        </p:txBody>
      </p:sp>
      <p:sp>
        <p:nvSpPr>
          <p:cNvPr id="8" name="Rounded Rectangle 7"/>
          <p:cNvSpPr/>
          <p:nvPr/>
        </p:nvSpPr>
        <p:spPr>
          <a:xfrm>
            <a:off x="502920" y="2148840"/>
            <a:ext cx="5349240" cy="713232"/>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Enter username + password</a:t>
            </a:r>
          </a:p>
        </p:txBody>
      </p:sp>
      <p:sp>
        <p:nvSpPr>
          <p:cNvPr id="9" name="Rounded Rectangle 8"/>
          <p:cNvSpPr/>
          <p:nvPr/>
        </p:nvSpPr>
        <p:spPr>
          <a:xfrm>
            <a:off x="6263640" y="2148840"/>
            <a:ext cx="5349240" cy="713232"/>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Enter the same username + password (no connection needed)</a:t>
            </a:r>
          </a:p>
        </p:txBody>
      </p:sp>
      <p:cxnSp>
        <p:nvCxnSpPr>
          <p:cNvPr id="10" name="Connector 9"/>
          <p:cNvCxnSpPr/>
          <p:nvPr/>
        </p:nvCxnSpPr>
        <p:spPr>
          <a:xfrm>
            <a:off x="3177540" y="2862072"/>
            <a:ext cx="0" cy="164592"/>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938260" y="2862072"/>
            <a:ext cx="0" cy="164592"/>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3026664"/>
            <a:ext cx="5349240" cy="713232"/>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GET /api/me — Basic Auth, base64(user:pass), over HTTPS</a:t>
            </a:r>
          </a:p>
        </p:txBody>
      </p:sp>
      <p:sp>
        <p:nvSpPr>
          <p:cNvPr id="13" name="Rounded Rectangle 12"/>
          <p:cNvSpPr/>
          <p:nvPr/>
        </p:nvSpPr>
        <p:spPr>
          <a:xfrm>
            <a:off x="6263640" y="3026664"/>
            <a:ext cx="5349240" cy="713232"/>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Compute SHA-256(salt : server-url : user : pass)</a:t>
            </a:r>
          </a:p>
        </p:txBody>
      </p:sp>
      <p:cxnSp>
        <p:nvCxnSpPr>
          <p:cNvPr id="14" name="Connector 13"/>
          <p:cNvCxnSpPr/>
          <p:nvPr/>
        </p:nvCxnSpPr>
        <p:spPr>
          <a:xfrm>
            <a:off x="3177540" y="3739896"/>
            <a:ext cx="0" cy="164592"/>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938260" y="3739896"/>
            <a:ext cx="0" cy="164592"/>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 y="3904488"/>
            <a:ext cx="5349240" cy="713232"/>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Server confirms identity → store salted SHA-256 verifier, bound to this server's URL</a:t>
            </a:r>
          </a:p>
        </p:txBody>
      </p:sp>
      <p:sp>
        <p:nvSpPr>
          <p:cNvPr id="17" name="Rounded Rectangle 16"/>
          <p:cNvSpPr/>
          <p:nvPr/>
        </p:nvSpPr>
        <p:spPr>
          <a:xfrm>
            <a:off x="6263640" y="3904488"/>
            <a:ext cx="5349240" cy="713232"/>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Constant-time compare against the stored verifier — resists timing attacks</a:t>
            </a:r>
          </a:p>
        </p:txBody>
      </p:sp>
      <p:cxnSp>
        <p:nvCxnSpPr>
          <p:cNvPr id="18" name="Connector 17"/>
          <p:cNvCxnSpPr/>
          <p:nvPr/>
        </p:nvCxnSpPr>
        <p:spPr>
          <a:xfrm>
            <a:off x="3177540" y="4782312"/>
            <a:ext cx="2857500" cy="320040"/>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309360" y="4782312"/>
            <a:ext cx="2628900" cy="320040"/>
          </a:xfrm>
          <a:prstGeom prst="line">
            <a:avLst/>
          </a:prstGeom>
          <a:ln w="2857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926080" y="5148072"/>
            <a:ext cx="6309360" cy="685800"/>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Session Established → per-user SQLite DB opened, AppSession updated, router redirects to /home</a:t>
            </a:r>
          </a:p>
        </p:txBody>
      </p:sp>
      <p:sp>
        <p:nvSpPr>
          <p:cNvPr id="21" name="TextBox 20"/>
          <p:cNvSpPr txBox="1"/>
          <p:nvPr/>
        </p:nvSpPr>
        <p:spPr>
          <a:xfrm>
            <a:off x="502920" y="6016752"/>
            <a:ext cx="11155680" cy="548640"/>
          </a:xfrm>
          <a:prstGeom prst="rect">
            <a:avLst/>
          </a:prstGeom>
          <a:noFill/>
        </p:spPr>
        <p:txBody>
          <a:bodyPr wrap="square" anchor="t" lIns="0" rIns="0" tIns="0" bIns="0">
            <a:spAutoFit/>
          </a:bodyPr>
          <a:lstStyle/>
          <a:p>
            <a:pPr algn="l"/>
            <a:r>
              <a:rPr sz="1200" b="0" i="1">
                <a:solidFill>
                  <a:srgbClr val="5B6675"/>
                </a:solidFill>
                <a:latin typeface="Calibri"/>
              </a:rPr>
              <a:t>The password itself is NEVER stored, online or offline — only a salted, one-way hash. Login outcomes are modeled explicitly in code: onlineFirstSync, onlineReturning, offline, offlineNoCache, invalidCredentials.</a:t>
            </a:r>
          </a:p>
        </p:txBody>
      </p:sp>
      <p:sp>
        <p:nvSpPr>
          <p:cNvPr id="22" name="TextBox 21"/>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3" name="TextBox 22"/>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SECURITY ARCHITECTURE</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Five Layers, Outer to Inner</a:t>
            </a:r>
          </a:p>
        </p:txBody>
      </p:sp>
      <p:sp>
        <p:nvSpPr>
          <p:cNvPr id="6" name="Rectangle 5"/>
          <p:cNvSpPr/>
          <p:nvPr/>
        </p:nvSpPr>
        <p:spPr>
          <a:xfrm>
            <a:off x="502920" y="1600200"/>
            <a:ext cx="2148840" cy="896112"/>
          </a:xfrm>
          <a:prstGeom prst="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00200"/>
            <a:ext cx="1965960" cy="896112"/>
          </a:xfrm>
          <a:prstGeom prst="rect">
            <a:avLst/>
          </a:prstGeom>
          <a:noFill/>
        </p:spPr>
        <p:txBody>
          <a:bodyPr wrap="square" anchor="ctr" lIns="0" rIns="0" tIns="0" bIns="0">
            <a:spAutoFit/>
          </a:bodyPr>
          <a:lstStyle/>
          <a:p>
            <a:pPr algn="l"/>
            <a:r>
              <a:rPr sz="1250" b="1" i="0">
                <a:solidFill>
                  <a:srgbClr val="FFFFFF"/>
                </a:solidFill>
                <a:latin typeface="Calibri"/>
              </a:rPr>
              <a:t>1. TRANSPORT</a:t>
            </a:r>
          </a:p>
        </p:txBody>
      </p:sp>
      <p:sp>
        <p:nvSpPr>
          <p:cNvPr id="8" name="Rectangle 7"/>
          <p:cNvSpPr/>
          <p:nvPr/>
        </p:nvSpPr>
        <p:spPr>
          <a:xfrm>
            <a:off x="2651760" y="1600200"/>
            <a:ext cx="9006840" cy="896112"/>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1655064"/>
            <a:ext cx="8778240" cy="804672"/>
          </a:xfrm>
          <a:prstGeom prst="rect">
            <a:avLst/>
          </a:prstGeom>
          <a:noFill/>
        </p:spPr>
        <p:txBody>
          <a:bodyPr wrap="square" anchor="t" lIns="0" rIns="0">
            <a:spAutoFit/>
          </a:bodyPr>
          <a:lstStyle/>
          <a:p>
            <a:pPr marL="0" indent="0">
              <a:spcAft>
                <a:spcPts val="200"/>
              </a:spcAft>
            </a:pPr>
            <a:r>
              <a:rPr sz="1100" b="0">
                <a:solidFill>
                  <a:srgbClr val="222B38"/>
                </a:solidFill>
                <a:latin typeface="Calibri"/>
              </a:rPr>
              <a:t>•  HTTPS-only in release builds</a:t>
            </a:r>
          </a:p>
          <a:p>
            <a:pPr marL="0" indent="0">
              <a:spcAft>
                <a:spcPts val="200"/>
              </a:spcAft>
            </a:pPr>
            <a:r>
              <a:rPr sz="1100" b="0">
                <a:solidFill>
                  <a:srgbClr val="222B38"/>
                </a:solidFill>
                <a:latin typeface="Calibri"/>
              </a:rPr>
              <a:t>•  Cleartext allowed only in debug manifest</a:t>
            </a:r>
          </a:p>
          <a:p>
            <a:pPr marL="0" indent="0">
              <a:spcAft>
                <a:spcPts val="200"/>
              </a:spcAft>
            </a:pPr>
            <a:r>
              <a:rPr sz="1100" b="0">
                <a:solidFill>
                  <a:srgbClr val="222B38"/>
                </a:solidFill>
                <a:latin typeface="Calibri"/>
              </a:rPr>
              <a:t>•  ⚠ No certificate pinning yet</a:t>
            </a:r>
          </a:p>
        </p:txBody>
      </p:sp>
      <p:sp>
        <p:nvSpPr>
          <p:cNvPr id="10" name="Rectangle 9"/>
          <p:cNvSpPr/>
          <p:nvPr/>
        </p:nvSpPr>
        <p:spPr>
          <a:xfrm>
            <a:off x="502920" y="2551176"/>
            <a:ext cx="2148840" cy="896112"/>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551176"/>
            <a:ext cx="1965960" cy="896112"/>
          </a:xfrm>
          <a:prstGeom prst="rect">
            <a:avLst/>
          </a:prstGeom>
          <a:noFill/>
        </p:spPr>
        <p:txBody>
          <a:bodyPr wrap="square" anchor="ctr" lIns="0" rIns="0" tIns="0" bIns="0">
            <a:spAutoFit/>
          </a:bodyPr>
          <a:lstStyle/>
          <a:p>
            <a:pPr algn="l"/>
            <a:r>
              <a:rPr sz="1250" b="1" i="0">
                <a:solidFill>
                  <a:srgbClr val="FFFFFF"/>
                </a:solidFill>
                <a:latin typeface="Calibri"/>
              </a:rPr>
              <a:t>2. AUTHENTICATION</a:t>
            </a:r>
          </a:p>
        </p:txBody>
      </p:sp>
      <p:sp>
        <p:nvSpPr>
          <p:cNvPr id="12" name="Rectangle 11"/>
          <p:cNvSpPr/>
          <p:nvPr/>
        </p:nvSpPr>
        <p:spPr>
          <a:xfrm>
            <a:off x="2651760" y="2551176"/>
            <a:ext cx="9006840" cy="896112"/>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8920" y="2606040"/>
            <a:ext cx="8778240" cy="804672"/>
          </a:xfrm>
          <a:prstGeom prst="rect">
            <a:avLst/>
          </a:prstGeom>
          <a:noFill/>
        </p:spPr>
        <p:txBody>
          <a:bodyPr wrap="square" anchor="t" lIns="0" rIns="0">
            <a:spAutoFit/>
          </a:bodyPr>
          <a:lstStyle/>
          <a:p>
            <a:pPr marL="0" indent="0">
              <a:spcAft>
                <a:spcPts val="200"/>
              </a:spcAft>
            </a:pPr>
            <a:r>
              <a:rPr sz="1100" b="0">
                <a:solidFill>
                  <a:srgbClr val="222B38"/>
                </a:solidFill>
                <a:latin typeface="Calibri"/>
              </a:rPr>
              <a:t>•  Basic Auth (base64) built server-side per request</a:t>
            </a:r>
          </a:p>
          <a:p>
            <a:pPr marL="0" indent="0">
              <a:spcAft>
                <a:spcPts val="200"/>
              </a:spcAft>
            </a:pPr>
            <a:r>
              <a:rPr sz="1100" b="0">
                <a:solidFill>
                  <a:srgbClr val="222B38"/>
                </a:solidFill>
                <a:latin typeface="Calibri"/>
              </a:rPr>
              <a:t>•  Offline: salted SHA-256 verifier, constant-time compare</a:t>
            </a:r>
          </a:p>
        </p:txBody>
      </p:sp>
      <p:sp>
        <p:nvSpPr>
          <p:cNvPr id="14" name="Rectangle 13"/>
          <p:cNvSpPr/>
          <p:nvPr/>
        </p:nvSpPr>
        <p:spPr>
          <a:xfrm>
            <a:off x="502920" y="3502152"/>
            <a:ext cx="2148840" cy="896112"/>
          </a:xfrm>
          <a:prstGeom prst="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502152"/>
            <a:ext cx="1965960" cy="896112"/>
          </a:xfrm>
          <a:prstGeom prst="rect">
            <a:avLst/>
          </a:prstGeom>
          <a:noFill/>
        </p:spPr>
        <p:txBody>
          <a:bodyPr wrap="square" anchor="ctr" lIns="0" rIns="0" tIns="0" bIns="0">
            <a:spAutoFit/>
          </a:bodyPr>
          <a:lstStyle/>
          <a:p>
            <a:pPr algn="l"/>
            <a:r>
              <a:rPr sz="1250" b="1" i="0">
                <a:solidFill>
                  <a:srgbClr val="FFFFFF"/>
                </a:solidFill>
                <a:latin typeface="Calibri"/>
              </a:rPr>
              <a:t>3. CREDENTIAL STORAGE</a:t>
            </a:r>
          </a:p>
        </p:txBody>
      </p:sp>
      <p:sp>
        <p:nvSpPr>
          <p:cNvPr id="16" name="Rectangle 15"/>
          <p:cNvSpPr/>
          <p:nvPr/>
        </p:nvSpPr>
        <p:spPr>
          <a:xfrm>
            <a:off x="2651760" y="3502152"/>
            <a:ext cx="9006840" cy="896112"/>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88920" y="3557016"/>
            <a:ext cx="8778240" cy="804672"/>
          </a:xfrm>
          <a:prstGeom prst="rect">
            <a:avLst/>
          </a:prstGeom>
          <a:noFill/>
        </p:spPr>
        <p:txBody>
          <a:bodyPr wrap="square" anchor="t" lIns="0" rIns="0">
            <a:spAutoFit/>
          </a:bodyPr>
          <a:lstStyle/>
          <a:p>
            <a:pPr marL="0" indent="0">
              <a:spcAft>
                <a:spcPts val="200"/>
              </a:spcAft>
            </a:pPr>
            <a:r>
              <a:rPr sz="1100" b="0">
                <a:solidFill>
                  <a:srgbClr val="222B38"/>
                </a:solidFill>
                <a:latin typeface="Calibri"/>
              </a:rPr>
              <a:t>•  flutter_secure_storage: Android EncryptedSharedPreferences / iOS Keychain</a:t>
            </a:r>
          </a:p>
          <a:p>
            <a:pPr marL="0" indent="0">
              <a:spcAft>
                <a:spcPts val="200"/>
              </a:spcAft>
            </a:pPr>
            <a:r>
              <a:rPr sz="1100" b="0">
                <a:solidFill>
                  <a:srgbClr val="222B38"/>
                </a:solidFill>
                <a:latin typeface="Calibri"/>
              </a:rPr>
              <a:t>•  Password never persisted, online or offline</a:t>
            </a:r>
          </a:p>
        </p:txBody>
      </p:sp>
      <p:sp>
        <p:nvSpPr>
          <p:cNvPr id="18" name="Rectangle 17"/>
          <p:cNvSpPr/>
          <p:nvPr/>
        </p:nvSpPr>
        <p:spPr>
          <a:xfrm>
            <a:off x="502920" y="4453128"/>
            <a:ext cx="2148840" cy="896112"/>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453128"/>
            <a:ext cx="1965960" cy="896112"/>
          </a:xfrm>
          <a:prstGeom prst="rect">
            <a:avLst/>
          </a:prstGeom>
          <a:noFill/>
        </p:spPr>
        <p:txBody>
          <a:bodyPr wrap="square" anchor="ctr" lIns="0" rIns="0" tIns="0" bIns="0">
            <a:spAutoFit/>
          </a:bodyPr>
          <a:lstStyle/>
          <a:p>
            <a:pPr algn="l"/>
            <a:r>
              <a:rPr sz="1250" b="1" i="0">
                <a:solidFill>
                  <a:srgbClr val="FFFFFF"/>
                </a:solidFill>
                <a:latin typeface="Calibri"/>
              </a:rPr>
              <a:t>4. LOCAL DATA AT REST</a:t>
            </a:r>
          </a:p>
        </p:txBody>
      </p:sp>
      <p:sp>
        <p:nvSpPr>
          <p:cNvPr id="20" name="Rectangle 19"/>
          <p:cNvSpPr/>
          <p:nvPr/>
        </p:nvSpPr>
        <p:spPr>
          <a:xfrm>
            <a:off x="2651760" y="4453128"/>
            <a:ext cx="9006840" cy="896112"/>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88920" y="4507992"/>
            <a:ext cx="8778240" cy="804672"/>
          </a:xfrm>
          <a:prstGeom prst="rect">
            <a:avLst/>
          </a:prstGeom>
          <a:noFill/>
        </p:spPr>
        <p:txBody>
          <a:bodyPr wrap="square" anchor="t" lIns="0" rIns="0">
            <a:spAutoFit/>
          </a:bodyPr>
          <a:lstStyle/>
          <a:p>
            <a:pPr marL="0" indent="0">
              <a:spcAft>
                <a:spcPts val="200"/>
              </a:spcAft>
            </a:pPr>
            <a:r>
              <a:rPr sz="1100" b="0">
                <a:solidFill>
                  <a:srgbClr val="222B38"/>
                </a:solidFill>
                <a:latin typeface="Calibri"/>
              </a:rPr>
              <a:t>•  Drift/SQLite, isolated per user</a:t>
            </a:r>
          </a:p>
          <a:p>
            <a:pPr marL="0" indent="0">
              <a:spcAft>
                <a:spcPts val="200"/>
              </a:spcAft>
            </a:pPr>
            <a:r>
              <a:rPr sz="1100" b="0">
                <a:solidFill>
                  <a:srgbClr val="222B38"/>
                </a:solidFill>
                <a:latin typeface="Calibri"/>
              </a:rPr>
              <a:t>•  ⚠ Not encrypted at rest (contains metadata + pending field data, not credentials)</a:t>
            </a:r>
          </a:p>
        </p:txBody>
      </p:sp>
      <p:sp>
        <p:nvSpPr>
          <p:cNvPr id="22" name="Rectangle 21"/>
          <p:cNvSpPr/>
          <p:nvPr/>
        </p:nvSpPr>
        <p:spPr>
          <a:xfrm>
            <a:off x="502920" y="5404104"/>
            <a:ext cx="2148840" cy="896112"/>
          </a:xfrm>
          <a:prstGeom prst="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5404104"/>
            <a:ext cx="1965960" cy="896112"/>
          </a:xfrm>
          <a:prstGeom prst="rect">
            <a:avLst/>
          </a:prstGeom>
          <a:noFill/>
        </p:spPr>
        <p:txBody>
          <a:bodyPr wrap="square" anchor="ctr" lIns="0" rIns="0" tIns="0" bIns="0">
            <a:spAutoFit/>
          </a:bodyPr>
          <a:lstStyle/>
          <a:p>
            <a:pPr algn="l"/>
            <a:r>
              <a:rPr sz="1250" b="1" i="0">
                <a:solidFill>
                  <a:srgbClr val="FFFFFF"/>
                </a:solidFill>
                <a:latin typeface="Calibri"/>
              </a:rPr>
              <a:t>5. LOGGING &amp; BUILD</a:t>
            </a:r>
          </a:p>
        </p:txBody>
      </p:sp>
      <p:sp>
        <p:nvSpPr>
          <p:cNvPr id="24" name="Rectangle 23"/>
          <p:cNvSpPr/>
          <p:nvPr/>
        </p:nvSpPr>
        <p:spPr>
          <a:xfrm>
            <a:off x="2651760" y="5404104"/>
            <a:ext cx="9006840" cy="896112"/>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88920" y="5458968"/>
            <a:ext cx="8778240" cy="804672"/>
          </a:xfrm>
          <a:prstGeom prst="rect">
            <a:avLst/>
          </a:prstGeom>
          <a:noFill/>
        </p:spPr>
        <p:txBody>
          <a:bodyPr wrap="square" anchor="t" lIns="0" rIns="0">
            <a:spAutoFit/>
          </a:bodyPr>
          <a:lstStyle/>
          <a:p>
            <a:pPr marL="0" indent="0">
              <a:spcAft>
                <a:spcPts val="200"/>
              </a:spcAft>
            </a:pPr>
            <a:r>
              <a:rPr sz="1100" b="0">
                <a:solidFill>
                  <a:srgbClr val="222B38"/>
                </a:solidFill>
                <a:latin typeface="Calibri"/>
              </a:rPr>
              <a:t>•  Authorization header redacted from all logs</a:t>
            </a:r>
          </a:p>
          <a:p>
            <a:pPr marL="0" indent="0">
              <a:spcAft>
                <a:spcPts val="200"/>
              </a:spcAft>
            </a:pPr>
            <a:r>
              <a:rPr sz="1100" b="0">
                <a:solidFill>
                  <a:srgbClr val="222B38"/>
                </a:solidFill>
                <a:latin typeface="Calibri"/>
              </a:rPr>
              <a:t>•  Release requires a real signing keystore or the build hard-fails</a:t>
            </a:r>
          </a:p>
          <a:p>
            <a:pPr marL="0" indent="0">
              <a:spcAft>
                <a:spcPts val="200"/>
              </a:spcAft>
            </a:pPr>
            <a:r>
              <a:rPr sz="1100" b="0">
                <a:solidFill>
                  <a:srgbClr val="222B38"/>
                </a:solidFill>
                <a:latin typeface="Calibri"/>
              </a:rPr>
              <a:t>•  ⚠ No ProGuard/R8 minification yet</a:t>
            </a:r>
          </a:p>
        </p:txBody>
      </p:sp>
      <p:sp>
        <p:nvSpPr>
          <p:cNvPr id="26" name="TextBox 25"/>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7" name="TextBox 26"/>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NETWORK LAYER</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Dio Client, Interceptor Chain &amp; Error Mapping</a:t>
            </a:r>
          </a:p>
        </p:txBody>
      </p:sp>
      <p:sp>
        <p:nvSpPr>
          <p:cNvPr id="6" name="Rounded Rectangle 5"/>
          <p:cNvSpPr/>
          <p:nvPr/>
        </p:nvSpPr>
        <p:spPr>
          <a:xfrm>
            <a:off x="502920" y="1828800"/>
            <a:ext cx="2084831" cy="960120"/>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Repository</a:t>
            </a:r>
          </a:p>
        </p:txBody>
      </p:sp>
      <p:cxnSp>
        <p:nvCxnSpPr>
          <p:cNvPr id="7" name="Connector 6"/>
          <p:cNvCxnSpPr/>
          <p:nvPr/>
        </p:nvCxnSpPr>
        <p:spPr>
          <a:xfrm>
            <a:off x="2587751" y="2304288"/>
            <a:ext cx="13716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24911" y="1828800"/>
            <a:ext cx="2084831" cy="960120"/>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ApiClient</a:t>
            </a:r>
          </a:p>
          <a:p>
            <a:pPr algn="ctr"/>
            <a:r>
              <a:rPr sz="1150" b="1">
                <a:solidFill>
                  <a:srgbClr val="FFFFFF"/>
                </a:solidFill>
                <a:latin typeface="Calibri"/>
              </a:rPr>
              <a:t>(Dio, 30s timeouts)</a:t>
            </a:r>
          </a:p>
        </p:txBody>
      </p:sp>
      <p:cxnSp>
        <p:nvCxnSpPr>
          <p:cNvPr id="9" name="Connector 8"/>
          <p:cNvCxnSpPr/>
          <p:nvPr/>
        </p:nvCxnSpPr>
        <p:spPr>
          <a:xfrm>
            <a:off x="4809742" y="2304288"/>
            <a:ext cx="13716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946902" y="1828800"/>
            <a:ext cx="2084831" cy="960120"/>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AuthInterceptor</a:t>
            </a:r>
          </a:p>
        </p:txBody>
      </p:sp>
      <p:cxnSp>
        <p:nvCxnSpPr>
          <p:cNvPr id="11" name="Connector 10"/>
          <p:cNvCxnSpPr/>
          <p:nvPr/>
        </p:nvCxnSpPr>
        <p:spPr>
          <a:xfrm>
            <a:off x="7031733" y="2304288"/>
            <a:ext cx="13716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168893" y="1828800"/>
            <a:ext cx="2084831" cy="960120"/>
          </a:xfrm>
          <a:prstGeom prst="round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LoggingInterceptor</a:t>
            </a:r>
          </a:p>
          <a:p>
            <a:pPr algn="ctr"/>
            <a:r>
              <a:rPr sz="1150" b="1">
                <a:solidFill>
                  <a:srgbClr val="FFFFFF"/>
                </a:solidFill>
                <a:latin typeface="Calibri"/>
              </a:rPr>
              <a:t>(debug-only, redacted)</a:t>
            </a:r>
          </a:p>
        </p:txBody>
      </p:sp>
      <p:cxnSp>
        <p:nvCxnSpPr>
          <p:cNvPr id="13" name="Connector 12"/>
          <p:cNvCxnSpPr/>
          <p:nvPr/>
        </p:nvCxnSpPr>
        <p:spPr>
          <a:xfrm>
            <a:off x="9253724" y="2304288"/>
            <a:ext cx="13716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90884" y="1828800"/>
            <a:ext cx="2084831" cy="960120"/>
          </a:xfrm>
          <a:prstGeom prst="round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DHIS2 REST API</a:t>
            </a:r>
          </a:p>
        </p:txBody>
      </p:sp>
      <p:sp>
        <p:nvSpPr>
          <p:cNvPr id="15" name="TextBox 14"/>
          <p:cNvSpPr txBox="1"/>
          <p:nvPr/>
        </p:nvSpPr>
        <p:spPr>
          <a:xfrm>
            <a:off x="502920" y="3017520"/>
            <a:ext cx="11155680" cy="320040"/>
          </a:xfrm>
          <a:prstGeom prst="rect">
            <a:avLst/>
          </a:prstGeom>
          <a:noFill/>
        </p:spPr>
        <p:txBody>
          <a:bodyPr wrap="square" anchor="t" lIns="0" rIns="0" tIns="0" bIns="0">
            <a:spAutoFit/>
          </a:bodyPr>
          <a:lstStyle/>
          <a:p>
            <a:pPr algn="ctr"/>
            <a:r>
              <a:rPr sz="1200" b="0" i="1">
                <a:solidFill>
                  <a:srgbClr val="5B6675"/>
                </a:solidFill>
                <a:latin typeface="Calibri"/>
              </a:rPr>
              <a:t>Response flows back through the same chain → parsed as a Model (DTO) → mapped to a Domain Entity.</a:t>
            </a:r>
          </a:p>
        </p:txBody>
      </p:sp>
      <p:sp>
        <p:nvSpPr>
          <p:cNvPr id="16" name="TextBox 15"/>
          <p:cNvSpPr txBox="1"/>
          <p:nvPr/>
        </p:nvSpPr>
        <p:spPr>
          <a:xfrm>
            <a:off x="502920" y="3611880"/>
            <a:ext cx="5989320" cy="320040"/>
          </a:xfrm>
          <a:prstGeom prst="rect">
            <a:avLst/>
          </a:prstGeom>
          <a:noFill/>
        </p:spPr>
        <p:txBody>
          <a:bodyPr wrap="square" anchor="t" lIns="0" rIns="0" tIns="0" bIns="0">
            <a:spAutoFit/>
          </a:bodyPr>
          <a:lstStyle/>
          <a:p>
            <a:pPr algn="l"/>
            <a:r>
              <a:rPr sz="1400" b="1" i="0">
                <a:solidFill>
                  <a:srgbClr val="0B243D"/>
                </a:solidFill>
                <a:latin typeface="Calibri"/>
              </a:rPr>
              <a:t>Configuration</a:t>
            </a:r>
          </a:p>
        </p:txBody>
      </p:sp>
      <p:sp>
        <p:nvSpPr>
          <p:cNvPr id="17" name="TextBox 16"/>
          <p:cNvSpPr txBox="1"/>
          <p:nvPr/>
        </p:nvSpPr>
        <p:spPr>
          <a:xfrm>
            <a:off x="502920" y="3977640"/>
            <a:ext cx="5989320" cy="2011680"/>
          </a:xfrm>
          <a:prstGeom prst="rect">
            <a:avLst/>
          </a:prstGeom>
          <a:noFill/>
        </p:spPr>
        <p:txBody>
          <a:bodyPr wrap="square" anchor="t" lIns="0" rIns="0">
            <a:spAutoFit/>
          </a:bodyPr>
          <a:lstStyle/>
          <a:p>
            <a:pPr marL="0" indent="0">
              <a:spcAft>
                <a:spcPts val="800"/>
              </a:spcAft>
            </a:pPr>
            <a:r>
              <a:rPr sz="1200" b="0">
                <a:solidFill>
                  <a:srgbClr val="222B38"/>
                </a:solidFill>
                <a:latin typeface="Calibri"/>
              </a:rPr>
              <a:t>•  Base URL: https://hmis-staging.moh.gov.et/api (runtime-configurable)</a:t>
            </a:r>
          </a:p>
          <a:p>
            <a:pPr marL="0" indent="0">
              <a:spcAft>
                <a:spcPts val="800"/>
              </a:spcAft>
            </a:pPr>
            <a:r>
              <a:rPr sz="1200" b="0">
                <a:solidFill>
                  <a:srgbClr val="222B38"/>
                </a:solidFill>
                <a:latin typeface="Calibri"/>
              </a:rPr>
              <a:t>•  Connect / receive / send timeouts: 30s each</a:t>
            </a:r>
          </a:p>
          <a:p>
            <a:pPr marL="0" indent="0">
              <a:spcAft>
                <a:spcPts val="800"/>
              </a:spcAft>
            </a:pPr>
            <a:r>
              <a:rPr sz="1200" b="0">
                <a:solidFill>
                  <a:srgbClr val="222B38"/>
                </a:solidFill>
                <a:latin typeface="Calibri"/>
              </a:rPr>
              <a:t>•  BackgroundTransformer decodes large JSON off the UI thread</a:t>
            </a:r>
          </a:p>
        </p:txBody>
      </p:sp>
      <p:sp>
        <p:nvSpPr>
          <p:cNvPr id="18" name="TextBox 17"/>
          <p:cNvSpPr txBox="1"/>
          <p:nvPr/>
        </p:nvSpPr>
        <p:spPr>
          <a:xfrm>
            <a:off x="5669280" y="3611880"/>
            <a:ext cx="5989320" cy="320040"/>
          </a:xfrm>
          <a:prstGeom prst="rect">
            <a:avLst/>
          </a:prstGeom>
          <a:noFill/>
        </p:spPr>
        <p:txBody>
          <a:bodyPr wrap="square" anchor="t" lIns="0" rIns="0" tIns="0" bIns="0">
            <a:spAutoFit/>
          </a:bodyPr>
          <a:lstStyle/>
          <a:p>
            <a:pPr algn="l"/>
            <a:r>
              <a:rPr sz="1400" b="1" i="0">
                <a:solidFill>
                  <a:srgbClr val="0B243D"/>
                </a:solidFill>
                <a:latin typeface="Calibri"/>
              </a:rPr>
              <a:t>Typed Error Mapping</a:t>
            </a:r>
          </a:p>
        </p:txBody>
      </p:sp>
      <p:sp>
        <p:nvSpPr>
          <p:cNvPr id="19" name="TextBox 18"/>
          <p:cNvSpPr txBox="1"/>
          <p:nvPr/>
        </p:nvSpPr>
        <p:spPr>
          <a:xfrm>
            <a:off x="5669280" y="3977640"/>
            <a:ext cx="5989320" cy="2011680"/>
          </a:xfrm>
          <a:prstGeom prst="rect">
            <a:avLst/>
          </a:prstGeom>
          <a:noFill/>
        </p:spPr>
        <p:txBody>
          <a:bodyPr wrap="square" anchor="t" lIns="0" rIns="0">
            <a:spAutoFit/>
          </a:bodyPr>
          <a:lstStyle/>
          <a:p>
            <a:pPr marL="0" indent="0">
              <a:spcAft>
                <a:spcPts val="800"/>
              </a:spcAft>
            </a:pPr>
            <a:r>
              <a:rPr sz="1200" b="0">
                <a:solidFill>
                  <a:srgbClr val="222B38"/>
                </a:solidFill>
                <a:latin typeface="Calibri"/>
              </a:rPr>
              <a:t>•  NetworkException, TimeoutException — no/unstable connection</a:t>
            </a:r>
          </a:p>
          <a:p>
            <a:pPr marL="0" indent="0">
              <a:spcAft>
                <a:spcPts val="800"/>
              </a:spcAft>
            </a:pPr>
            <a:r>
              <a:rPr sz="1200" b="0">
                <a:solidFill>
                  <a:srgbClr val="222B38"/>
                </a:solidFill>
                <a:latin typeface="Calibri"/>
              </a:rPr>
              <a:t>•  UnauthorizedException — 401, triggers auto-logout + redirect</a:t>
            </a:r>
          </a:p>
          <a:p>
            <a:pPr marL="0" indent="0">
              <a:spcAft>
                <a:spcPts val="800"/>
              </a:spcAft>
            </a:pPr>
            <a:r>
              <a:rPr sz="1200" b="0">
                <a:solidFill>
                  <a:srgbClr val="222B38"/>
                </a:solidFill>
                <a:latin typeface="Calibri"/>
              </a:rPr>
              <a:t>•  ServerException, CacheException — 5xx / local DB failure</a:t>
            </a:r>
          </a:p>
        </p:txBody>
      </p:sp>
      <p:sp>
        <p:nvSpPr>
          <p:cNvPr id="20" name="TextBox 19"/>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1" name="TextBox 20"/>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LOCAL DATABASE</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Drift / SQLite — 25 Tables, Isolated Per User</a:t>
            </a:r>
          </a:p>
        </p:txBody>
      </p:sp>
      <p:graphicFrame>
        <p:nvGraphicFramePr>
          <p:cNvPr id="6" name="Table 5"/>
          <p:cNvGraphicFramePr>
            <a:graphicFrameLocks noGrp="1"/>
          </p:cNvGraphicFramePr>
          <p:nvPr/>
        </p:nvGraphicFramePr>
        <p:xfrm>
          <a:off x="502920" y="1645920"/>
          <a:ext cx="11155680" cy="2286000"/>
        </p:xfrm>
        <a:graphic>
          <a:graphicData uri="http://schemas.openxmlformats.org/drawingml/2006/table">
            <a:tbl>
              <a:tblPr firstRow="1" bandRow="1">
                <a:tableStyleId>{5C22544A-7EE6-4342-B048-85BDC9FD1C3A}</a:tableStyleId>
              </a:tblPr>
              <a:tblGrid>
                <a:gridCol w="1920240"/>
                <a:gridCol w="822960"/>
                <a:gridCol w="4572000"/>
                <a:gridCol w="3840480"/>
              </a:tblGrid>
              <a:tr h="457200">
                <a:tc>
                  <a:txBody>
                    <a:bodyPr/>
                    <a:lstStyle/>
                    <a:p>
                      <a:pPr algn="l"/>
                      <a:r>
                        <a:rPr b="1" sz="1200">
                          <a:solidFill>
                            <a:srgbClr val="FFFFFF"/>
                          </a:solidFill>
                        </a:rPr>
                        <a:t>Table Group</a:t>
                      </a:r>
                    </a:p>
                  </a:txBody>
                  <a:tcPr>
                    <a:solidFill>
                      <a:srgbClr val="0B243D"/>
                    </a:solidFill>
                  </a:tcPr>
                </a:tc>
                <a:tc>
                  <a:txBody>
                    <a:bodyPr/>
                    <a:lstStyle/>
                    <a:p>
                      <a:pPr algn="l"/>
                      <a:r>
                        <a:rPr b="1" sz="1200">
                          <a:solidFill>
                            <a:srgbClr val="FFFFFF"/>
                          </a:solidFill>
                        </a:rPr>
                        <a:t>Count</a:t>
                      </a:r>
                    </a:p>
                  </a:txBody>
                  <a:tcPr>
                    <a:solidFill>
                      <a:srgbClr val="0B243D"/>
                    </a:solidFill>
                  </a:tcPr>
                </a:tc>
                <a:tc>
                  <a:txBody>
                    <a:bodyPr/>
                    <a:lstStyle/>
                    <a:p>
                      <a:pPr algn="l"/>
                      <a:r>
                        <a:rPr b="1" sz="1200">
                          <a:solidFill>
                            <a:srgbClr val="FFFFFF"/>
                          </a:solidFill>
                        </a:rPr>
                        <a:t>Examples</a:t>
                      </a:r>
                    </a:p>
                  </a:txBody>
                  <a:tcPr>
                    <a:solidFill>
                      <a:srgbClr val="0B243D"/>
                    </a:solidFill>
                  </a:tcPr>
                </a:tc>
                <a:tc>
                  <a:txBody>
                    <a:bodyPr/>
                    <a:lstStyle/>
                    <a:p>
                      <a:pPr algn="l"/>
                      <a:r>
                        <a:rPr b="1" sz="1200">
                          <a:solidFill>
                            <a:srgbClr val="FFFFFF"/>
                          </a:solidFill>
                        </a:rPr>
                        <a:t>Purpose</a:t>
                      </a:r>
                    </a:p>
                  </a:txBody>
                  <a:tcPr>
                    <a:solidFill>
                      <a:srgbClr val="0B243D"/>
                    </a:solidFill>
                  </a:tcPr>
                </a:tc>
              </a:tr>
              <a:tr h="457200">
                <a:tc>
                  <a:txBody>
                    <a:bodyPr/>
                    <a:lstStyle/>
                    <a:p>
                      <a:r>
                        <a:rPr sz="1200">
                          <a:solidFill>
                            <a:srgbClr val="222B38"/>
                          </a:solidFill>
                        </a:rPr>
                        <a:t>Metadata</a:t>
                      </a:r>
                    </a:p>
                  </a:txBody>
                  <a:tcPr>
                    <a:solidFill>
                      <a:srgbClr val="F4F7FA"/>
                    </a:solidFill>
                  </a:tcPr>
                </a:tc>
                <a:tc>
                  <a:txBody>
                    <a:bodyPr/>
                    <a:lstStyle/>
                    <a:p>
                      <a:r>
                        <a:rPr sz="1200">
                          <a:solidFill>
                            <a:srgbClr val="222B38"/>
                          </a:solidFill>
                        </a:rPr>
                        <a:t>11</a:t>
                      </a:r>
                    </a:p>
                  </a:txBody>
                  <a:tcPr>
                    <a:solidFill>
                      <a:srgbClr val="F4F7FA"/>
                    </a:solidFill>
                  </a:tcPr>
                </a:tc>
                <a:tc>
                  <a:txBody>
                    <a:bodyPr/>
                    <a:lstStyle/>
                    <a:p>
                      <a:r>
                        <a:rPr sz="1200">
                          <a:solidFill>
                            <a:srgbClr val="222B38"/>
                          </a:solidFill>
                        </a:rPr>
                        <a:t>org units, datasets, data elements, sections, categories, option sets, validation rules</a:t>
                      </a:r>
                    </a:p>
                  </a:txBody>
                  <a:tcPr>
                    <a:solidFill>
                      <a:srgbClr val="F4F7FA"/>
                    </a:solidFill>
                  </a:tcPr>
                </a:tc>
                <a:tc>
                  <a:txBody>
                    <a:bodyPr/>
                    <a:lstStyle/>
                    <a:p>
                      <a:r>
                        <a:rPr sz="1200">
                          <a:solidFill>
                            <a:srgbClr val="222B38"/>
                          </a:solidFill>
                        </a:rPr>
                        <a:t>Cached DHIS2 configuration — what forms exist and how they're structured</a:t>
                      </a:r>
                    </a:p>
                  </a:txBody>
                  <a:tcPr>
                    <a:solidFill>
                      <a:srgbClr val="F4F7FA"/>
                    </a:solidFill>
                  </a:tcPr>
                </a:tc>
              </a:tr>
              <a:tr h="457200">
                <a:tc>
                  <a:txBody>
                    <a:bodyPr/>
                    <a:lstStyle/>
                    <a:p>
                      <a:r>
                        <a:rPr sz="1200">
                          <a:solidFill>
                            <a:srgbClr val="222B38"/>
                          </a:solidFill>
                        </a:rPr>
                        <a:t>Link / Join</a:t>
                      </a:r>
                    </a:p>
                  </a:txBody>
                  <a:tcPr>
                    <a:solidFill>
                      <a:srgbClr val="FFFFFF"/>
                    </a:solidFill>
                  </a:tcPr>
                </a:tc>
                <a:tc>
                  <a:txBody>
                    <a:bodyPr/>
                    <a:lstStyle/>
                    <a:p>
                      <a:r>
                        <a:rPr sz="1200">
                          <a:solidFill>
                            <a:srgbClr val="222B38"/>
                          </a:solidFill>
                        </a:rPr>
                        <a:t>9</a:t>
                      </a:r>
                    </a:p>
                  </a:txBody>
                  <a:tcPr>
                    <a:solidFill>
                      <a:srgbClr val="FFFFFF"/>
                    </a:solidFill>
                  </a:tcPr>
                </a:tc>
                <a:tc>
                  <a:txBody>
                    <a:bodyPr/>
                    <a:lstStyle/>
                    <a:p>
                      <a:r>
                        <a:rPr sz="1200">
                          <a:solidFill>
                            <a:srgbClr val="222B38"/>
                          </a:solidFill>
                        </a:rPr>
                        <a:t>DataSetElements, DataSetOrgUnits, SectionDataElements, CategoryOptionCombos</a:t>
                      </a:r>
                    </a:p>
                  </a:txBody>
                  <a:tcPr>
                    <a:solidFill>
                      <a:srgbClr val="FFFFFF"/>
                    </a:solidFill>
                  </a:tcPr>
                </a:tc>
                <a:tc>
                  <a:txBody>
                    <a:bodyPr/>
                    <a:lstStyle/>
                    <a:p>
                      <a:r>
                        <a:rPr sz="1200">
                          <a:solidFill>
                            <a:srgbClr val="222B38"/>
                          </a:solidFill>
                        </a:rPr>
                        <a:t>n:n relationships (e.g. which data elements belong to which dataset)</a:t>
                      </a:r>
                    </a:p>
                  </a:txBody>
                  <a:tcPr>
                    <a:solidFill>
                      <a:srgbClr val="FFFFFF"/>
                    </a:solidFill>
                  </a:tcPr>
                </a:tc>
              </a:tr>
              <a:tr h="457200">
                <a:tc>
                  <a:txBody>
                    <a:bodyPr/>
                    <a:lstStyle/>
                    <a:p>
                      <a:r>
                        <a:rPr sz="1200">
                          <a:solidFill>
                            <a:srgbClr val="222B38"/>
                          </a:solidFill>
                        </a:rPr>
                        <a:t>Control</a:t>
                      </a:r>
                    </a:p>
                  </a:txBody>
                  <a:tcPr>
                    <a:solidFill>
                      <a:srgbClr val="F4F7FA"/>
                    </a:solidFill>
                  </a:tcPr>
                </a:tc>
                <a:tc>
                  <a:txBody>
                    <a:bodyPr/>
                    <a:lstStyle/>
                    <a:p>
                      <a:r>
                        <a:rPr sz="1200">
                          <a:solidFill>
                            <a:srgbClr val="222B38"/>
                          </a:solidFill>
                        </a:rPr>
                        <a:t>2</a:t>
                      </a:r>
                    </a:p>
                  </a:txBody>
                  <a:tcPr>
                    <a:solidFill>
                      <a:srgbClr val="F4F7FA"/>
                    </a:solidFill>
                  </a:tcPr>
                </a:tc>
                <a:tc>
                  <a:txBody>
                    <a:bodyPr/>
                    <a:lstStyle/>
                    <a:p>
                      <a:r>
                        <a:rPr sz="1200">
                          <a:solidFill>
                            <a:srgbClr val="222B38"/>
                          </a:solidFill>
                        </a:rPr>
                        <a:t>Users (cached /api/me), SyncInfo (last-sync timestamps, clock guard)</a:t>
                      </a:r>
                    </a:p>
                  </a:txBody>
                  <a:tcPr>
                    <a:solidFill>
                      <a:srgbClr val="F4F7FA"/>
                    </a:solidFill>
                  </a:tcPr>
                </a:tc>
                <a:tc>
                  <a:txBody>
                    <a:bodyPr/>
                    <a:lstStyle/>
                    <a:p>
                      <a:r>
                        <a:rPr sz="1200">
                          <a:solidFill>
                            <a:srgbClr val="222B38"/>
                          </a:solidFill>
                        </a:rPr>
                        <a:t>Session bookkeeping and sync state tracking</a:t>
                      </a:r>
                    </a:p>
                  </a:txBody>
                  <a:tcPr>
                    <a:solidFill>
                      <a:srgbClr val="F4F7FA"/>
                    </a:solidFill>
                  </a:tcPr>
                </a:tc>
              </a:tr>
              <a:tr h="457200">
                <a:tc>
                  <a:txBody>
                    <a:bodyPr/>
                    <a:lstStyle/>
                    <a:p>
                      <a:r>
                        <a:rPr sz="1200">
                          <a:solidFill>
                            <a:srgbClr val="222B38"/>
                          </a:solidFill>
                        </a:rPr>
                        <a:t>Write Queue</a:t>
                      </a:r>
                    </a:p>
                  </a:txBody>
                  <a:tcPr>
                    <a:solidFill>
                      <a:srgbClr val="FFFFFF"/>
                    </a:solidFill>
                  </a:tcPr>
                </a:tc>
                <a:tc>
                  <a:txBody>
                    <a:bodyPr/>
                    <a:lstStyle/>
                    <a:p>
                      <a:r>
                        <a:rPr sz="1200">
                          <a:solidFill>
                            <a:srgbClr val="222B38"/>
                          </a:solidFill>
                        </a:rPr>
                        <a:t>2</a:t>
                      </a:r>
                    </a:p>
                  </a:txBody>
                  <a:tcPr>
                    <a:solidFill>
                      <a:srgbClr val="FFFFFF"/>
                    </a:solidFill>
                  </a:tcPr>
                </a:tc>
                <a:tc>
                  <a:txBody>
                    <a:bodyPr/>
                    <a:lstStyle/>
                    <a:p>
                      <a:r>
                        <a:rPr sz="1200">
                          <a:solidFill>
                            <a:srgbClr val="222B38"/>
                          </a:solidFill>
                        </a:rPr>
                        <a:t>DataValues, CompleteDataSetRegistrations</a:t>
                      </a:r>
                    </a:p>
                  </a:txBody>
                  <a:tcPr>
                    <a:solidFill>
                      <a:srgbClr val="FFFFFF"/>
                    </a:solidFill>
                  </a:tcPr>
                </a:tc>
                <a:tc>
                  <a:txBody>
                    <a:bodyPr/>
                    <a:lstStyle/>
                    <a:p>
                      <a:r>
                        <a:rPr sz="1200">
                          <a:solidFill>
                            <a:srgbClr val="222B38"/>
                          </a:solidFill>
                        </a:rPr>
                        <a:t>Locally captured field data awaiting upload — the offline write path</a:t>
                      </a:r>
                    </a:p>
                  </a:txBody>
                  <a:tcPr>
                    <a:solidFill>
                      <a:srgbClr val="FFFFFF"/>
                    </a:solidFill>
                  </a:tcPr>
                </a:tc>
              </a:tr>
            </a:tbl>
          </a:graphicData>
        </a:graphic>
      </p:graphicFrame>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OFFLINE-FIRST DESIGN</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Why Offline-First, and How It's Enforced</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500"/>
              </a:spcAft>
            </a:pPr>
            <a:r>
              <a:rPr sz="1600" b="0">
                <a:solidFill>
                  <a:srgbClr val="222B38"/>
                </a:solidFill>
                <a:latin typeface="Calibri"/>
              </a:rPr>
              <a:t>▸  The constraint: Ethiopian health facilities frequently have zero or intermittent connectivity — this shaped every architectural decision in the app.</a:t>
            </a:r>
          </a:p>
          <a:p>
            <a:pPr marL="0" indent="0">
              <a:spcAft>
                <a:spcPts val="1500"/>
              </a:spcAft>
            </a:pPr>
            <a:r>
              <a:rPr sz="1600" b="0">
                <a:solidFill>
                  <a:srgbClr val="222B38"/>
                </a:solidFill>
                <a:latin typeface="Calibri"/>
              </a:rPr>
              <a:t>▸  The principle: the local SQLite database is the source of truth for the UI. The network is an eventually-connected sync target, not a dependency for daily work.</a:t>
            </a:r>
          </a:p>
          <a:p>
            <a:pPr marL="0" indent="0">
              <a:spcAft>
                <a:spcPts val="1500"/>
              </a:spcAft>
            </a:pPr>
            <a:r>
              <a:rPr sz="1600" b="0">
                <a:solidFill>
                  <a:srgbClr val="222B38"/>
                </a:solidFill>
                <a:latin typeface="Calibri"/>
              </a:rPr>
              <a:t>▸  Enforced in code, not just in intent: every form save is local-first — a value lands as a draft on-device before anything touches the network.</a:t>
            </a:r>
          </a:p>
          <a:p>
            <a:pPr marL="0" indent="0">
              <a:spcAft>
                <a:spcPts val="1500"/>
              </a:spcAft>
            </a:pPr>
            <a:r>
              <a:rPr sz="1600" b="0">
                <a:solidFill>
                  <a:srgbClr val="222B38"/>
                </a:solidFill>
                <a:latin typeface="Calibri"/>
              </a:rPr>
              <a:t>▸  Metadata (forms, org units, datasets) is downloaded once at first login, scoped to the user's own org-unit subtree, and cached — the app is usable indefinitely offline afterward.</a:t>
            </a:r>
          </a:p>
          <a:p>
            <a:pPr marL="0" indent="0">
              <a:spcAft>
                <a:spcPts val="1500"/>
              </a:spcAft>
            </a:pPr>
            <a:r>
              <a:rPr sz="1600" b="0">
                <a:solidFill>
                  <a:srgbClr val="222B38"/>
                </a:solidFill>
                <a:latin typeface="Calibri"/>
              </a:rPr>
              <a:t>▸  Offline login uses the salted verifier described earlier, so a health worker doesn't need connectivity just to open the app and keep working.</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SYNCHRONIZATION</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Three Automatic Triggers + Manual Sync</a:t>
            </a:r>
          </a:p>
        </p:txBody>
      </p:sp>
      <p:sp>
        <p:nvSpPr>
          <p:cNvPr id="6" name="Rounded Rectangle 5"/>
          <p:cNvSpPr/>
          <p:nvPr/>
        </p:nvSpPr>
        <p:spPr>
          <a:xfrm>
            <a:off x="777240" y="1645920"/>
            <a:ext cx="2606040" cy="594360"/>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Connectivity</a:t>
            </a:r>
          </a:p>
          <a:p>
            <a:pPr algn="ctr"/>
            <a:r>
              <a:rPr sz="1150" b="1">
                <a:solidFill>
                  <a:srgbClr val="FFFFFF"/>
                </a:solidFill>
                <a:latin typeface="Calibri"/>
              </a:rPr>
              <a:t>Restored</a:t>
            </a:r>
          </a:p>
        </p:txBody>
      </p:sp>
      <p:cxnSp>
        <p:nvCxnSpPr>
          <p:cNvPr id="7" name="Connector 6"/>
          <p:cNvCxnSpPr/>
          <p:nvPr/>
        </p:nvCxnSpPr>
        <p:spPr>
          <a:xfrm>
            <a:off x="2080260" y="2240280"/>
            <a:ext cx="3954780" cy="365760"/>
          </a:xfrm>
          <a:prstGeom prst="line">
            <a:avLst/>
          </a:prstGeom>
          <a:ln w="1905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93008" y="1645920"/>
            <a:ext cx="2606040" cy="594360"/>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Login</a:t>
            </a:r>
          </a:p>
          <a:p>
            <a:pPr algn="ctr"/>
            <a:r>
              <a:rPr sz="1150" b="1">
                <a:solidFill>
                  <a:srgbClr val="FFFFFF"/>
                </a:solidFill>
                <a:latin typeface="Calibri"/>
              </a:rPr>
              <a:t>Event</a:t>
            </a:r>
          </a:p>
        </p:txBody>
      </p:sp>
      <p:cxnSp>
        <p:nvCxnSpPr>
          <p:cNvPr id="9" name="Connector 8"/>
          <p:cNvCxnSpPr/>
          <p:nvPr/>
        </p:nvCxnSpPr>
        <p:spPr>
          <a:xfrm>
            <a:off x="4796028" y="2240280"/>
            <a:ext cx="1239012" cy="365760"/>
          </a:xfrm>
          <a:prstGeom prst="line">
            <a:avLst/>
          </a:prstGeom>
          <a:ln w="1905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08776" y="1645920"/>
            <a:ext cx="2606040" cy="594360"/>
          </a:xfrm>
          <a:prstGeom prst="round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5-Minute</a:t>
            </a:r>
          </a:p>
          <a:p>
            <a:pPr algn="ctr"/>
            <a:r>
              <a:rPr sz="1150" b="1">
                <a:solidFill>
                  <a:srgbClr val="FFFFFF"/>
                </a:solidFill>
                <a:latin typeface="Calibri"/>
              </a:rPr>
              <a:t>Heartbeat</a:t>
            </a:r>
          </a:p>
        </p:txBody>
      </p:sp>
      <p:cxnSp>
        <p:nvCxnSpPr>
          <p:cNvPr id="11" name="Connector 10"/>
          <p:cNvCxnSpPr/>
          <p:nvPr/>
        </p:nvCxnSpPr>
        <p:spPr>
          <a:xfrm flipH="1">
            <a:off x="6035040" y="2240280"/>
            <a:ext cx="1476756" cy="365760"/>
          </a:xfrm>
          <a:prstGeom prst="line">
            <a:avLst/>
          </a:prstGeom>
          <a:ln w="1905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924544" y="1645920"/>
            <a:ext cx="2606040" cy="594360"/>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Manual Sync</a:t>
            </a:r>
          </a:p>
          <a:p>
            <a:pPr algn="ctr"/>
            <a:r>
              <a:rPr sz="1150" b="1">
                <a:solidFill>
                  <a:srgbClr val="FFFFFF"/>
                </a:solidFill>
                <a:latin typeface="Calibri"/>
              </a:rPr>
              <a:t>Button</a:t>
            </a:r>
          </a:p>
        </p:txBody>
      </p:sp>
      <p:cxnSp>
        <p:nvCxnSpPr>
          <p:cNvPr id="13" name="Connector 12"/>
          <p:cNvCxnSpPr/>
          <p:nvPr/>
        </p:nvCxnSpPr>
        <p:spPr>
          <a:xfrm flipH="1">
            <a:off x="6035040" y="2240280"/>
            <a:ext cx="4192524" cy="365760"/>
          </a:xfrm>
          <a:prstGeom prst="line">
            <a:avLst/>
          </a:prstGeom>
          <a:ln w="1905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34840" y="2651760"/>
            <a:ext cx="3200400" cy="594360"/>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SyncCoordinator</a:t>
            </a:r>
          </a:p>
        </p:txBody>
      </p:sp>
      <p:cxnSp>
        <p:nvCxnSpPr>
          <p:cNvPr id="15" name="Connector 14"/>
          <p:cNvCxnSpPr/>
          <p:nvPr/>
        </p:nvCxnSpPr>
        <p:spPr>
          <a:xfrm>
            <a:off x="6035040" y="3246120"/>
            <a:ext cx="0" cy="27432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06240" y="3566160"/>
            <a:ext cx="3657600" cy="594360"/>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Calibri"/>
              </a:rPr>
              <a:t>DriftSyncManager</a:t>
            </a:r>
          </a:p>
        </p:txBody>
      </p:sp>
      <p:cxnSp>
        <p:nvCxnSpPr>
          <p:cNvPr id="17" name="Connector 16"/>
          <p:cNvCxnSpPr/>
          <p:nvPr/>
        </p:nvCxnSpPr>
        <p:spPr>
          <a:xfrm flipH="1">
            <a:off x="3566160" y="4160520"/>
            <a:ext cx="1554480" cy="320040"/>
          </a:xfrm>
          <a:prstGeom prst="line">
            <a:avLst/>
          </a:prstGeom>
          <a:ln w="2222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949440" y="4160520"/>
            <a:ext cx="1554480" cy="320040"/>
          </a:xfrm>
          <a:prstGeom prst="line">
            <a:avLst/>
          </a:prstGeom>
          <a:ln w="2222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737360" y="4526280"/>
            <a:ext cx="3657600" cy="685800"/>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pushPending()</a:t>
            </a:r>
          </a:p>
          <a:p>
            <a:pPr algn="ctr"/>
            <a:r>
              <a:rPr sz="1050" b="1">
                <a:solidFill>
                  <a:srgbClr val="FFFFFF"/>
                </a:solidFill>
                <a:latin typeface="Calibri"/>
              </a:rPr>
              <a:t>bulk POST /dataValueSets (500/batch)</a:t>
            </a:r>
          </a:p>
          <a:p>
            <a:pPr algn="ctr"/>
            <a:r>
              <a:rPr sz="1050" b="1">
                <a:solidFill>
                  <a:srgbClr val="FFFFFF"/>
                </a:solidFill>
                <a:latin typeface="Calibri"/>
              </a:rPr>
              <a:t>+ completeDataSetRegistrations</a:t>
            </a:r>
          </a:p>
        </p:txBody>
      </p:sp>
      <p:sp>
        <p:nvSpPr>
          <p:cNvPr id="20" name="Rounded Rectangle 19"/>
          <p:cNvSpPr/>
          <p:nvPr/>
        </p:nvSpPr>
        <p:spPr>
          <a:xfrm>
            <a:off x="6766560" y="4526280"/>
            <a:ext cx="3657600" cy="685800"/>
          </a:xfrm>
          <a:prstGeom prst="round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050" b="1">
                <a:solidFill>
                  <a:srgbClr val="FFFFFF"/>
                </a:solidFill>
                <a:latin typeface="Calibri"/>
              </a:rPr>
              <a:t>pullLatest()</a:t>
            </a:r>
          </a:p>
          <a:p>
            <a:pPr algn="ctr"/>
            <a:r>
              <a:rPr sz="1050" b="1">
                <a:solidFill>
                  <a:srgbClr val="FFFFFF"/>
                </a:solidFill>
                <a:latin typeface="Calibri"/>
              </a:rPr>
              <a:t>metadata delta sync</a:t>
            </a:r>
          </a:p>
          <a:p>
            <a:pPr algn="ctr"/>
            <a:r>
              <a:rPr sz="1050" b="1">
                <a:solidFill>
                  <a:srgbClr val="FFFFFF"/>
                </a:solidFill>
                <a:latin typeface="Calibri"/>
              </a:rPr>
              <a:t>(dependency-ordered)</a:t>
            </a:r>
          </a:p>
        </p:txBody>
      </p:sp>
      <p:cxnSp>
        <p:nvCxnSpPr>
          <p:cNvPr id="21" name="Connector 20"/>
          <p:cNvCxnSpPr/>
          <p:nvPr/>
        </p:nvCxnSpPr>
        <p:spPr>
          <a:xfrm>
            <a:off x="3566160" y="5212080"/>
            <a:ext cx="2468880" cy="365760"/>
          </a:xfrm>
          <a:prstGeom prst="line">
            <a:avLst/>
          </a:prstGeom>
          <a:ln w="2222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6035040" y="5212080"/>
            <a:ext cx="2560320" cy="365760"/>
          </a:xfrm>
          <a:prstGeom prst="line">
            <a:avLst/>
          </a:prstGeom>
          <a:ln w="2222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206240" y="5623560"/>
            <a:ext cx="3657600" cy="502920"/>
          </a:xfrm>
          <a:prstGeom prst="round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50" b="1">
                <a:solidFill>
                  <a:srgbClr val="FFFFFF"/>
                </a:solidFill>
                <a:latin typeface="Calibri"/>
              </a:rPr>
              <a:t>DHIS2 REST API</a:t>
            </a:r>
          </a:p>
        </p:txBody>
      </p:sp>
      <p:sp>
        <p:nvSpPr>
          <p:cNvPr id="24" name="TextBox 23"/>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5" name="TextBox 24"/>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SYNCHRONIZATION</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Conflict Resolution — Draft Always Wins</a:t>
            </a:r>
          </a:p>
        </p:txBody>
      </p:sp>
      <p:sp>
        <p:nvSpPr>
          <p:cNvPr id="6" name="Diamond 5"/>
          <p:cNvSpPr/>
          <p:nvPr/>
        </p:nvSpPr>
        <p:spPr>
          <a:xfrm>
            <a:off x="4663440" y="1645920"/>
            <a:ext cx="2834640" cy="91440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0B243D"/>
                </a:solidFill>
                <a:latin typeface="Calibri"/>
              </a:rPr>
              <a:t>Compare local</a:t>
            </a:r>
          </a:p>
          <a:p>
            <a:pPr algn="ctr"/>
            <a:r>
              <a:rPr sz="1300" b="1">
                <a:solidFill>
                  <a:srgbClr val="0B243D"/>
                </a:solidFill>
                <a:latin typeface="Calibri"/>
              </a:rPr>
              <a:t>vs. server value</a:t>
            </a:r>
          </a:p>
        </p:txBody>
      </p:sp>
      <p:sp>
        <p:nvSpPr>
          <p:cNvPr id="7" name="Rounded Rectangle 6"/>
          <p:cNvSpPr/>
          <p:nvPr/>
        </p:nvSpPr>
        <p:spPr>
          <a:xfrm>
            <a:off x="502920" y="2880360"/>
            <a:ext cx="2606040" cy="11430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DRAFT</a:t>
            </a:r>
          </a:p>
          <a:p>
            <a:pPr algn="ctr"/>
            <a:r>
              <a:rPr sz="1100" b="1">
                <a:solidFill>
                  <a:srgbClr val="FFFFFF"/>
                </a:solidFill>
                <a:latin typeface="Calibri"/>
              </a:rPr>
              <a:t>Local always wins — never auto-pushed until form completion</a:t>
            </a:r>
          </a:p>
        </p:txBody>
      </p:sp>
      <p:cxnSp>
        <p:nvCxnSpPr>
          <p:cNvPr id="8" name="Connector 7"/>
          <p:cNvCxnSpPr/>
          <p:nvPr/>
        </p:nvCxnSpPr>
        <p:spPr>
          <a:xfrm flipH="1">
            <a:off x="1805940" y="2560320"/>
            <a:ext cx="4274820" cy="320040"/>
          </a:xfrm>
          <a:prstGeom prst="line">
            <a:avLst/>
          </a:prstGeom>
          <a:ln w="2222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46120" y="2880360"/>
            <a:ext cx="2606040" cy="1143000"/>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EQUAL</a:t>
            </a:r>
          </a:p>
          <a:p>
            <a:pPr algn="ctr"/>
            <a:r>
              <a:rPr sz="1100" b="1">
                <a:solidFill>
                  <a:srgbClr val="FFFFFF"/>
                </a:solidFill>
                <a:latin typeface="Calibri"/>
              </a:rPr>
              <a:t>Mark synced, skip the write entirely</a:t>
            </a:r>
          </a:p>
        </p:txBody>
      </p:sp>
      <p:cxnSp>
        <p:nvCxnSpPr>
          <p:cNvPr id="10" name="Connector 9"/>
          <p:cNvCxnSpPr/>
          <p:nvPr/>
        </p:nvCxnSpPr>
        <p:spPr>
          <a:xfrm flipH="1">
            <a:off x="4549140" y="2560320"/>
            <a:ext cx="1531620" cy="320040"/>
          </a:xfrm>
          <a:prstGeom prst="line">
            <a:avLst/>
          </a:prstGeom>
          <a:ln w="2222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172200" y="2880360"/>
            <a:ext cx="2606040" cy="1143000"/>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LOCAL NEWER</a:t>
            </a:r>
          </a:p>
          <a:p>
            <a:pPr algn="ctr"/>
            <a:r>
              <a:rPr sz="1100" b="1">
                <a:solidFill>
                  <a:srgbClr val="FFFFFF"/>
                </a:solidFill>
                <a:latin typeface="Calibri"/>
              </a:rPr>
              <a:t>(clock valid, within 2-min tolerance) → local wins, push</a:t>
            </a:r>
          </a:p>
        </p:txBody>
      </p:sp>
      <p:cxnSp>
        <p:nvCxnSpPr>
          <p:cNvPr id="12" name="Connector 11"/>
          <p:cNvCxnSpPr/>
          <p:nvPr/>
        </p:nvCxnSpPr>
        <p:spPr>
          <a:xfrm>
            <a:off x="6080760" y="2560320"/>
            <a:ext cx="1394460" cy="320040"/>
          </a:xfrm>
          <a:prstGeom prst="line">
            <a:avLst/>
          </a:prstGeom>
          <a:ln w="2222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915400" y="2880360"/>
            <a:ext cx="2606040" cy="1143000"/>
          </a:xfrm>
          <a:prstGeom prst="roundRect">
            <a:avLst/>
          </a:prstGeom>
          <a:solidFill>
            <a:srgbClr val="C62D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Calibri"/>
              </a:rPr>
              <a:t>SERVER NEWER</a:t>
            </a:r>
          </a:p>
          <a:p>
            <a:pPr algn="ctr"/>
            <a:r>
              <a:rPr sz="1100" b="1">
                <a:solidFill>
                  <a:srgbClr val="FFFFFF"/>
                </a:solidFill>
                <a:latin typeface="Calibri"/>
              </a:rPr>
              <a:t>(or tampered clock / no timestamp) → server wins, overwrite</a:t>
            </a:r>
          </a:p>
        </p:txBody>
      </p:sp>
      <p:cxnSp>
        <p:nvCxnSpPr>
          <p:cNvPr id="14" name="Connector 13"/>
          <p:cNvCxnSpPr/>
          <p:nvPr/>
        </p:nvCxnSpPr>
        <p:spPr>
          <a:xfrm>
            <a:off x="6080760" y="2560320"/>
            <a:ext cx="4137660" cy="320040"/>
          </a:xfrm>
          <a:prstGeom prst="line">
            <a:avLst/>
          </a:prstGeom>
          <a:ln w="22225">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 y="4251960"/>
            <a:ext cx="11155680" cy="320040"/>
          </a:xfrm>
          <a:prstGeom prst="rect">
            <a:avLst/>
          </a:prstGeom>
          <a:noFill/>
        </p:spPr>
        <p:txBody>
          <a:bodyPr wrap="square" anchor="t" lIns="0" rIns="0" tIns="0" bIns="0">
            <a:spAutoFit/>
          </a:bodyPr>
          <a:lstStyle/>
          <a:p>
            <a:pPr algn="l"/>
            <a:r>
              <a:rPr sz="1350" b="1" i="0">
                <a:solidFill>
                  <a:srgbClr val="0B243D"/>
                </a:solidFill>
                <a:latin typeface="Calibri"/>
              </a:rPr>
              <a:t>DHIS2 2.40 Server-Side Rejection Handling</a:t>
            </a:r>
          </a:p>
        </p:txBody>
      </p:sp>
      <p:sp>
        <p:nvSpPr>
          <p:cNvPr id="16" name="TextBox 15"/>
          <p:cNvSpPr txBox="1"/>
          <p:nvPr/>
        </p:nvSpPr>
        <p:spPr>
          <a:xfrm>
            <a:off x="502920" y="4617720"/>
            <a:ext cx="11155680" cy="1188720"/>
          </a:xfrm>
          <a:prstGeom prst="rect">
            <a:avLst/>
          </a:prstGeom>
          <a:noFill/>
        </p:spPr>
        <p:txBody>
          <a:bodyPr wrap="square" anchor="t" lIns="0" rIns="0">
            <a:spAutoFit/>
          </a:bodyPr>
          <a:lstStyle/>
          <a:p>
            <a:pPr marL="0" indent="0">
              <a:spcAft>
                <a:spcPts val="600"/>
              </a:spcAft>
            </a:pPr>
            <a:r>
              <a:rPr sz="1250" b="0">
                <a:solidFill>
                  <a:srgbClr val="222B38"/>
                </a:solidFill>
                <a:latin typeface="Calibri"/>
              </a:rPr>
              <a:t>•  Server returns HTTP 409 + a full ImportSummary when a value is rejected (wrong type, not in an option set, etc.)</a:t>
            </a:r>
          </a:p>
          <a:p>
            <a:pPr marL="0" indent="0">
              <a:spcAft>
                <a:spcPts val="600"/>
              </a:spcAft>
            </a:pPr>
            <a:r>
              <a:rPr sz="1250" b="0">
                <a:solidFill>
                  <a:srgbClr val="222B38"/>
                </a:solidFill>
                <a:latin typeface="Calibri"/>
              </a:rPr>
              <a:t>•  Exact per-value verdict is parsed from the response — not a generic failure</a:t>
            </a:r>
          </a:p>
          <a:p>
            <a:pPr marL="0" indent="0">
              <a:spcAft>
                <a:spcPts val="600"/>
              </a:spcAft>
            </a:pPr>
            <a:r>
              <a:rPr sz="1250" b="0">
                <a:solidFill>
                  <a:srgbClr val="222B38"/>
                </a:solidFill>
                <a:latin typeface="Calibri"/>
              </a:rPr>
              <a:t>•  Rejected cells are marked red in the form with the server's own reason text; editing the cell re-queues the fix</a:t>
            </a:r>
          </a:p>
        </p:txBody>
      </p:sp>
      <p:sp>
        <p:nvSpPr>
          <p:cNvPr id="17" name="TextBox 1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18" name="TextBox 1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DATA ENTRY &amp; CAPTURE FLOW</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Org Unit → Dataset → Period → Form → Complete</a:t>
            </a:r>
          </a:p>
        </p:txBody>
      </p:sp>
      <p:sp>
        <p:nvSpPr>
          <p:cNvPr id="6" name="Rounded Rectangle 5"/>
          <p:cNvSpPr/>
          <p:nvPr/>
        </p:nvSpPr>
        <p:spPr>
          <a:xfrm>
            <a:off x="502920" y="1783080"/>
            <a:ext cx="2084831" cy="777240"/>
          </a:xfrm>
          <a:prstGeom prst="round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Org Unit</a:t>
            </a:r>
          </a:p>
          <a:p>
            <a:pPr algn="ctr"/>
            <a:r>
              <a:rPr sz="1150" b="1">
                <a:solidFill>
                  <a:srgbClr val="FFFFFF"/>
                </a:solidFill>
                <a:latin typeface="Calibri"/>
              </a:rPr>
              <a:t>(tree, lazy-loaded)</a:t>
            </a:r>
          </a:p>
        </p:txBody>
      </p:sp>
      <p:cxnSp>
        <p:nvCxnSpPr>
          <p:cNvPr id="7" name="Connector 6"/>
          <p:cNvCxnSpPr/>
          <p:nvPr/>
        </p:nvCxnSpPr>
        <p:spPr>
          <a:xfrm>
            <a:off x="2587751" y="2167128"/>
            <a:ext cx="13716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24911" y="1783080"/>
            <a:ext cx="2084831" cy="777240"/>
          </a:xfrm>
          <a:prstGeom prst="roundRect">
            <a:avLst/>
          </a:prstGeom>
          <a:solidFill>
            <a:srgbClr val="02569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Dataset</a:t>
            </a:r>
          </a:p>
        </p:txBody>
      </p:sp>
      <p:cxnSp>
        <p:nvCxnSpPr>
          <p:cNvPr id="9" name="Connector 8"/>
          <p:cNvCxnSpPr/>
          <p:nvPr/>
        </p:nvCxnSpPr>
        <p:spPr>
          <a:xfrm>
            <a:off x="4809742" y="2167128"/>
            <a:ext cx="13716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946902" y="1783080"/>
            <a:ext cx="2084831" cy="777240"/>
          </a:xfrm>
          <a:prstGeom prst="round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Section</a:t>
            </a:r>
          </a:p>
          <a:p>
            <a:pPr algn="ctr"/>
            <a:r>
              <a:rPr sz="1150" b="1">
                <a:solidFill>
                  <a:srgbClr val="FFFFFF"/>
                </a:solidFill>
                <a:latin typeface="Calibri"/>
              </a:rPr>
              <a:t>(optional)</a:t>
            </a:r>
          </a:p>
        </p:txBody>
      </p:sp>
      <p:cxnSp>
        <p:nvCxnSpPr>
          <p:cNvPr id="11" name="Connector 10"/>
          <p:cNvCxnSpPr/>
          <p:nvPr/>
        </p:nvCxnSpPr>
        <p:spPr>
          <a:xfrm>
            <a:off x="7031733" y="2167128"/>
            <a:ext cx="13716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168893" y="1783080"/>
            <a:ext cx="2084831" cy="777240"/>
          </a:xfrm>
          <a:prstGeom prst="round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Period</a:t>
            </a:r>
          </a:p>
          <a:p>
            <a:pPr algn="ctr"/>
            <a:r>
              <a:rPr sz="1150" b="1">
                <a:solidFill>
                  <a:srgbClr val="FFFFFF"/>
                </a:solidFill>
                <a:latin typeface="Calibri"/>
              </a:rPr>
              <a:t>(gated by expiry rules)</a:t>
            </a:r>
          </a:p>
        </p:txBody>
      </p:sp>
      <p:cxnSp>
        <p:nvCxnSpPr>
          <p:cNvPr id="13" name="Connector 12"/>
          <p:cNvCxnSpPr/>
          <p:nvPr/>
        </p:nvCxnSpPr>
        <p:spPr>
          <a:xfrm>
            <a:off x="9253724" y="2167128"/>
            <a:ext cx="137160" cy="0"/>
          </a:xfrm>
          <a:prstGeom prst="line">
            <a:avLst/>
          </a:prstGeom>
          <a:ln w="25400">
            <a:solidFill>
              <a:srgbClr val="0B24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90884" y="1783080"/>
            <a:ext cx="2084831" cy="777240"/>
          </a:xfrm>
          <a:prstGeom prst="roundRect">
            <a:avLst/>
          </a:prstGeom>
          <a:solidFill>
            <a:srgbClr val="4A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50" b="1">
                <a:solidFill>
                  <a:srgbClr val="FFFFFF"/>
                </a:solidFill>
                <a:latin typeface="Calibri"/>
              </a:rPr>
              <a:t>Entry Form</a:t>
            </a:r>
          </a:p>
          <a:p>
            <a:pPr algn="ctr"/>
            <a:r>
              <a:rPr sz="1150" b="1">
                <a:solidFill>
                  <a:srgbClr val="FFFFFF"/>
                </a:solidFill>
                <a:latin typeface="Calibri"/>
              </a:rPr>
              <a:t>(cells)</a:t>
            </a:r>
          </a:p>
        </p:txBody>
      </p:sp>
      <p:sp>
        <p:nvSpPr>
          <p:cNvPr id="15" name="TextBox 14"/>
          <p:cNvSpPr txBox="1"/>
          <p:nvPr/>
        </p:nvSpPr>
        <p:spPr>
          <a:xfrm>
            <a:off x="502920" y="2926080"/>
            <a:ext cx="5989320" cy="320040"/>
          </a:xfrm>
          <a:prstGeom prst="rect">
            <a:avLst/>
          </a:prstGeom>
          <a:noFill/>
        </p:spPr>
        <p:txBody>
          <a:bodyPr wrap="square" anchor="t" lIns="0" rIns="0" tIns="0" bIns="0">
            <a:spAutoFit/>
          </a:bodyPr>
          <a:lstStyle/>
          <a:p>
            <a:pPr algn="l"/>
            <a:r>
              <a:rPr sz="1400" b="1" i="0">
                <a:solidFill>
                  <a:srgbClr val="0B243D"/>
                </a:solidFill>
                <a:latin typeface="Calibri"/>
              </a:rPr>
              <a:t>Save &amp; Complete</a:t>
            </a:r>
          </a:p>
        </p:txBody>
      </p:sp>
      <p:sp>
        <p:nvSpPr>
          <p:cNvPr id="16" name="TextBox 15"/>
          <p:cNvSpPr txBox="1"/>
          <p:nvPr/>
        </p:nvSpPr>
        <p:spPr>
          <a:xfrm>
            <a:off x="502920" y="3291840"/>
            <a:ext cx="5989320" cy="2926080"/>
          </a:xfrm>
          <a:prstGeom prst="rect">
            <a:avLst/>
          </a:prstGeom>
          <a:noFill/>
        </p:spPr>
        <p:txBody>
          <a:bodyPr wrap="square" anchor="t" lIns="0" rIns="0">
            <a:spAutoFit/>
          </a:bodyPr>
          <a:lstStyle/>
          <a:p>
            <a:pPr marL="0" indent="0">
              <a:spcAft>
                <a:spcPts val="1000"/>
              </a:spcAft>
            </a:pPr>
            <a:r>
              <a:rPr sz="1300" b="0">
                <a:solidFill>
                  <a:srgbClr val="222B38"/>
                </a:solidFill>
                <a:latin typeface="Calibri"/>
              </a:rPr>
              <a:t>•  Every cell edit upserts a DRAFT row — device-only, immediate</a:t>
            </a:r>
          </a:p>
          <a:p>
            <a:pPr marL="0" indent="0">
              <a:spcAft>
                <a:spcPts val="1000"/>
              </a:spcAft>
            </a:pPr>
            <a:r>
              <a:rPr sz="1300" b="0">
                <a:solidFill>
                  <a:srgbClr val="222B38"/>
                </a:solidFill>
                <a:latin typeface="Calibri"/>
              </a:rPr>
              <a:t>•  Complete → promotes drafts to PENDING, registers completion, best-effort immediate push (non-blocking)</a:t>
            </a:r>
          </a:p>
          <a:p>
            <a:pPr marL="0" indent="0">
              <a:spcAft>
                <a:spcPts val="1000"/>
              </a:spcAft>
            </a:pPr>
            <a:r>
              <a:rPr sz="1300" b="0">
                <a:solidFill>
                  <a:srgbClr val="222B38"/>
                </a:solidFill>
                <a:latin typeface="Calibri"/>
              </a:rPr>
              <a:t>•  Reopen (uncomplete) supported for corrections before final sign-off</a:t>
            </a:r>
          </a:p>
        </p:txBody>
      </p:sp>
      <p:sp>
        <p:nvSpPr>
          <p:cNvPr id="17" name="TextBox 16"/>
          <p:cNvSpPr txBox="1"/>
          <p:nvPr/>
        </p:nvSpPr>
        <p:spPr>
          <a:xfrm>
            <a:off x="5669280" y="2926080"/>
            <a:ext cx="5989320" cy="320040"/>
          </a:xfrm>
          <a:prstGeom prst="rect">
            <a:avLst/>
          </a:prstGeom>
          <a:noFill/>
        </p:spPr>
        <p:txBody>
          <a:bodyPr wrap="square" anchor="t" lIns="0" rIns="0" tIns="0" bIns="0">
            <a:spAutoFit/>
          </a:bodyPr>
          <a:lstStyle/>
          <a:p>
            <a:pPr algn="l"/>
            <a:r>
              <a:rPr sz="1400" b="1" i="0">
                <a:solidFill>
                  <a:srgbClr val="0B243D"/>
                </a:solidFill>
                <a:latin typeface="Calibri"/>
              </a:rPr>
              <a:t>Period Gating</a:t>
            </a:r>
          </a:p>
        </p:txBody>
      </p:sp>
      <p:sp>
        <p:nvSpPr>
          <p:cNvPr id="18" name="TextBox 17"/>
          <p:cNvSpPr txBox="1"/>
          <p:nvPr/>
        </p:nvSpPr>
        <p:spPr>
          <a:xfrm>
            <a:off x="5669280" y="3291840"/>
            <a:ext cx="5989320" cy="2926080"/>
          </a:xfrm>
          <a:prstGeom prst="rect">
            <a:avLst/>
          </a:prstGeom>
          <a:noFill/>
        </p:spPr>
        <p:txBody>
          <a:bodyPr wrap="square" anchor="t" lIns="0" rIns="0">
            <a:spAutoFit/>
          </a:bodyPr>
          <a:lstStyle/>
          <a:p>
            <a:pPr marL="0" indent="0">
              <a:spcAft>
                <a:spcPts val="1000"/>
              </a:spcAft>
            </a:pPr>
            <a:r>
              <a:rPr sz="1300" b="0">
                <a:solidFill>
                  <a:srgbClr val="222B38"/>
                </a:solidFill>
                <a:latin typeface="Calibri"/>
              </a:rPr>
              <a:t>•  PeriodAccess checks dataset expiryDays and openFuturePeriods</a:t>
            </a:r>
          </a:p>
          <a:p>
            <a:pPr marL="0" indent="0">
              <a:spcAft>
                <a:spcPts val="1000"/>
              </a:spcAft>
            </a:pPr>
            <a:r>
              <a:rPr sz="1300" b="0">
                <a:solidFill>
                  <a:srgbClr val="222B38"/>
                </a:solidFill>
                <a:latin typeface="Calibri"/>
              </a:rPr>
              <a:t>•  Backed by a tamper-resistant monotonic clock, not just the device's wall clock</a:t>
            </a:r>
          </a:p>
          <a:p>
            <a:pPr marL="0" indent="0">
              <a:spcAft>
                <a:spcPts val="1000"/>
              </a:spcAft>
            </a:pPr>
            <a:r>
              <a:rPr sz="1300" b="0">
                <a:solidFill>
                  <a:srgbClr val="222B38"/>
                </a:solidFill>
                <a:latin typeface="Calibri"/>
              </a:rPr>
              <a:t>•  Ethiopian calendar-native period pickers and DHIS2 period IDs</a:t>
            </a:r>
          </a:p>
        </p:txBody>
      </p:sp>
      <p:sp>
        <p:nvSpPr>
          <p:cNvPr id="19" name="TextBox 18"/>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20" name="TextBox 19"/>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ERROR HANDLING</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Failures Are Typed, Non-Blocking, and Never Silent</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700"/>
              </a:spcAft>
            </a:pPr>
            <a:r>
              <a:rPr sz="1700" b="0">
                <a:solidFill>
                  <a:srgbClr val="222B38"/>
                </a:solidFill>
                <a:latin typeface="Calibri"/>
              </a:rPr>
              <a:t>▸  Typed exception hierarchy: NetworkException, UnauthorizedException, ServerException, TimeoutException, CacheException — mapped to domain-level Failures.</a:t>
            </a:r>
          </a:p>
          <a:p>
            <a:pPr marL="0" indent="0">
              <a:spcAft>
                <a:spcPts val="1700"/>
              </a:spcAft>
            </a:pPr>
            <a:r>
              <a:rPr sz="1700" b="0">
                <a:solidFill>
                  <a:srgbClr val="222B38"/>
                </a:solidFill>
                <a:latin typeface="Calibri"/>
              </a:rPr>
              <a:t>▸  A 401 anywhere in the app ends the session, clears the legacy token, and redirects to /login?reason=session-expired — the user is told why, not just logged out silently.</a:t>
            </a:r>
          </a:p>
          <a:p>
            <a:pPr marL="0" indent="0">
              <a:spcAft>
                <a:spcPts val="1700"/>
              </a:spcAft>
            </a:pPr>
            <a:r>
              <a:rPr sz="1700" b="0">
                <a:solidFill>
                  <a:srgbClr val="222B38"/>
                </a:solidFill>
                <a:latin typeface="Calibri"/>
              </a:rPr>
              <a:t>▸  Sync failures are non-blocking by design: a failed push or pull leaves rows pending or draft for the next retry — a network error never causes data loss.</a:t>
            </a:r>
          </a:p>
          <a:p>
            <a:pPr marL="0" indent="0">
              <a:spcAft>
                <a:spcPts val="1700"/>
              </a:spcAft>
            </a:pPr>
            <a:r>
              <a:rPr sz="1700" b="0">
                <a:solidFill>
                  <a:srgbClr val="222B38"/>
                </a:solidFill>
                <a:latin typeface="Calibri"/>
              </a:rPr>
              <a:t>▸  Server-side rejections surface the actual DHIS2 reason text to the user, not a generic 'something went wrong' message.</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SECURITY ASSESSMENT</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Strengths, Weaknesses &amp; Recommendations</a:t>
            </a:r>
          </a:p>
        </p:txBody>
      </p:sp>
      <p:sp>
        <p:nvSpPr>
          <p:cNvPr id="6" name="Rectangle 5"/>
          <p:cNvSpPr/>
          <p:nvPr/>
        </p:nvSpPr>
        <p:spPr>
          <a:xfrm>
            <a:off x="502920" y="1508760"/>
            <a:ext cx="3611880"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3611880" cy="502920"/>
          </a:xfrm>
          <a:prstGeom prst="rect">
            <a:avLst/>
          </a:prstGeom>
          <a:noFill/>
        </p:spPr>
        <p:txBody>
          <a:bodyPr wrap="square" anchor="ctr" lIns="0" rIns="0" tIns="0" bIns="0">
            <a:spAutoFit/>
          </a:bodyPr>
          <a:lstStyle/>
          <a:p>
            <a:pPr algn="ctr"/>
            <a:r>
              <a:rPr sz="1500" b="1" i="0">
                <a:solidFill>
                  <a:srgbClr val="FFFFFF"/>
                </a:solidFill>
                <a:latin typeface="Calibri"/>
              </a:rPr>
              <a:t>✔  STRENGTHS</a:t>
            </a:r>
          </a:p>
        </p:txBody>
      </p:sp>
      <p:sp>
        <p:nvSpPr>
          <p:cNvPr id="8" name="Rectangle 7"/>
          <p:cNvSpPr/>
          <p:nvPr/>
        </p:nvSpPr>
        <p:spPr>
          <a:xfrm>
            <a:off x="502920" y="2011680"/>
            <a:ext cx="3611880" cy="457200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194560"/>
            <a:ext cx="3282696" cy="4251960"/>
          </a:xfrm>
          <a:prstGeom prst="rect">
            <a:avLst/>
          </a:prstGeom>
          <a:noFill/>
        </p:spPr>
        <p:txBody>
          <a:bodyPr wrap="square" anchor="t" lIns="0" rIns="0">
            <a:spAutoFit/>
          </a:bodyPr>
          <a:lstStyle/>
          <a:p>
            <a:pPr marL="0" indent="0">
              <a:spcAft>
                <a:spcPts val="900"/>
              </a:spcAft>
            </a:pPr>
            <a:r>
              <a:rPr sz="1250" b="0">
                <a:solidFill>
                  <a:srgbClr val="222B38"/>
                </a:solidFill>
                <a:latin typeface="Calibri"/>
              </a:rPr>
              <a:t>•  Passwords never stored in plaintext, online or offline</a:t>
            </a:r>
          </a:p>
          <a:p>
            <a:pPr marL="0" indent="0">
              <a:spcAft>
                <a:spcPts val="900"/>
              </a:spcAft>
            </a:pPr>
            <a:r>
              <a:rPr sz="1250" b="0">
                <a:solidFill>
                  <a:srgbClr val="222B38"/>
                </a:solidFill>
                <a:latin typeface="Calibri"/>
              </a:rPr>
              <a:t>•  Offline verifier: salted, SHA-256, constant-time compare, bound to server URL</a:t>
            </a:r>
          </a:p>
          <a:p>
            <a:pPr marL="0" indent="0">
              <a:spcAft>
                <a:spcPts val="900"/>
              </a:spcAft>
            </a:pPr>
            <a:r>
              <a:rPr sz="1250" b="0">
                <a:solidFill>
                  <a:srgbClr val="222B38"/>
                </a:solidFill>
                <a:latin typeface="Calibri"/>
              </a:rPr>
              <a:t>•  OS-grade secure storage (Android EncryptedSharedPreferences / iOS Keychain)</a:t>
            </a:r>
          </a:p>
          <a:p>
            <a:pPr marL="0" indent="0">
              <a:spcAft>
                <a:spcPts val="900"/>
              </a:spcAft>
            </a:pPr>
            <a:r>
              <a:rPr sz="1250" b="0">
                <a:solidFill>
                  <a:srgbClr val="222B38"/>
                </a:solidFill>
                <a:latin typeface="Calibri"/>
              </a:rPr>
              <a:t>•  HTTPS-only in release builds</a:t>
            </a:r>
          </a:p>
          <a:p>
            <a:pPr marL="0" indent="0">
              <a:spcAft>
                <a:spcPts val="900"/>
              </a:spcAft>
            </a:pPr>
            <a:r>
              <a:rPr sz="1250" b="0">
                <a:solidFill>
                  <a:srgbClr val="222B38"/>
                </a:solidFill>
                <a:latin typeface="Calibri"/>
              </a:rPr>
              <a:t>•  Authorization header redacted from all logs; release suppresses debug logging</a:t>
            </a:r>
          </a:p>
          <a:p>
            <a:pPr marL="0" indent="0">
              <a:spcAft>
                <a:spcPts val="900"/>
              </a:spcAft>
            </a:pPr>
            <a:r>
              <a:rPr sz="1250" b="0">
                <a:solidFill>
                  <a:srgbClr val="222B38"/>
                </a:solidFill>
                <a:latin typeface="Calibri"/>
              </a:rPr>
              <a:t>•  SQL injection eliminated by construction (Drift type-safe queries only)</a:t>
            </a:r>
          </a:p>
          <a:p>
            <a:pPr marL="0" indent="0">
              <a:spcAft>
                <a:spcPts val="900"/>
              </a:spcAft>
            </a:pPr>
            <a:r>
              <a:rPr sz="1250" b="0">
                <a:solidFill>
                  <a:srgbClr val="222B38"/>
                </a:solidFill>
                <a:latin typeface="Calibri"/>
              </a:rPr>
              <a:t>•  Release APK build hard-fails without a real signing keystore</a:t>
            </a:r>
          </a:p>
        </p:txBody>
      </p:sp>
      <p:sp>
        <p:nvSpPr>
          <p:cNvPr id="10" name="Rectangle 9"/>
          <p:cNvSpPr/>
          <p:nvPr/>
        </p:nvSpPr>
        <p:spPr>
          <a:xfrm>
            <a:off x="4297680" y="1508760"/>
            <a:ext cx="3611880" cy="502920"/>
          </a:xfrm>
          <a:prstGeom prst="rect">
            <a:avLst/>
          </a:prstGeom>
          <a:solidFill>
            <a:srgbClr val="C6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508760"/>
            <a:ext cx="3611880" cy="502920"/>
          </a:xfrm>
          <a:prstGeom prst="rect">
            <a:avLst/>
          </a:prstGeom>
          <a:noFill/>
        </p:spPr>
        <p:txBody>
          <a:bodyPr wrap="square" anchor="ctr" lIns="0" rIns="0" tIns="0" bIns="0">
            <a:spAutoFit/>
          </a:bodyPr>
          <a:lstStyle/>
          <a:p>
            <a:pPr algn="ctr"/>
            <a:r>
              <a:rPr sz="1500" b="1" i="0">
                <a:solidFill>
                  <a:srgbClr val="FFFFFF"/>
                </a:solidFill>
                <a:latin typeface="Calibri"/>
              </a:rPr>
              <a:t>⚠  WEAKNESSES</a:t>
            </a:r>
          </a:p>
        </p:txBody>
      </p:sp>
      <p:sp>
        <p:nvSpPr>
          <p:cNvPr id="12" name="Rectangle 11"/>
          <p:cNvSpPr/>
          <p:nvPr/>
        </p:nvSpPr>
        <p:spPr>
          <a:xfrm>
            <a:off x="4297680" y="2011680"/>
            <a:ext cx="3611880" cy="457200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2194560"/>
            <a:ext cx="3282696" cy="4251960"/>
          </a:xfrm>
          <a:prstGeom prst="rect">
            <a:avLst/>
          </a:prstGeom>
          <a:noFill/>
        </p:spPr>
        <p:txBody>
          <a:bodyPr wrap="square" anchor="t" lIns="0" rIns="0">
            <a:spAutoFit/>
          </a:bodyPr>
          <a:lstStyle/>
          <a:p>
            <a:pPr marL="0" indent="0">
              <a:spcAft>
                <a:spcPts val="900"/>
              </a:spcAft>
            </a:pPr>
            <a:r>
              <a:rPr sz="1250" b="0">
                <a:solidFill>
                  <a:srgbClr val="222B38"/>
                </a:solidFill>
                <a:latin typeface="Calibri"/>
              </a:rPr>
              <a:t>•  Local SQLite database not encrypted at rest (holds cached metadata + pending field data, not credentials)</a:t>
            </a:r>
          </a:p>
          <a:p>
            <a:pPr marL="0" indent="0">
              <a:spcAft>
                <a:spcPts val="900"/>
              </a:spcAft>
            </a:pPr>
            <a:r>
              <a:rPr sz="1250" b="0">
                <a:solidFill>
                  <a:srgbClr val="222B38"/>
                </a:solidFill>
                <a:latin typeface="Calibri"/>
              </a:rPr>
              <a:t>•  No certificate pinning — relies on the OS/system trust store only</a:t>
            </a:r>
          </a:p>
          <a:p>
            <a:pPr marL="0" indent="0">
              <a:spcAft>
                <a:spcPts val="900"/>
              </a:spcAft>
            </a:pPr>
            <a:r>
              <a:rPr sz="1250" b="0">
                <a:solidFill>
                  <a:srgbClr val="222B38"/>
                </a:solidFill>
                <a:latin typeface="Calibri"/>
              </a:rPr>
              <a:t>•  No ProGuard/R8 minification configured for Android release builds</a:t>
            </a:r>
          </a:p>
          <a:p>
            <a:pPr marL="0" indent="0">
              <a:spcAft>
                <a:spcPts val="900"/>
              </a:spcAft>
            </a:pPr>
            <a:r>
              <a:rPr sz="1250" b="0">
                <a:solidFill>
                  <a:srgbClr val="222B38"/>
                </a:solidFill>
                <a:latin typeface="Calibri"/>
              </a:rPr>
              <a:t>•  No token refresh/expiry — Basic Auth is re-sent every request for the session's life</a:t>
            </a:r>
          </a:p>
          <a:p>
            <a:pPr marL="0" indent="0">
              <a:spcAft>
                <a:spcPts val="900"/>
              </a:spcAft>
            </a:pPr>
            <a:r>
              <a:rPr sz="1250" b="0">
                <a:solidFill>
                  <a:srgbClr val="222B38"/>
                </a:solidFill>
                <a:latin typeface="Calibri"/>
              </a:rPr>
              <a:t>•  android:allowBackup not explicitly set (defaults permissive)</a:t>
            </a:r>
          </a:p>
        </p:txBody>
      </p:sp>
      <p:sp>
        <p:nvSpPr>
          <p:cNvPr id="14" name="Rectangle 13"/>
          <p:cNvSpPr/>
          <p:nvPr/>
        </p:nvSpPr>
        <p:spPr>
          <a:xfrm>
            <a:off x="8092440" y="1508760"/>
            <a:ext cx="3611880" cy="50292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508760"/>
            <a:ext cx="3611880" cy="502920"/>
          </a:xfrm>
          <a:prstGeom prst="rect">
            <a:avLst/>
          </a:prstGeom>
          <a:noFill/>
        </p:spPr>
        <p:txBody>
          <a:bodyPr wrap="square" anchor="ctr" lIns="0" rIns="0" tIns="0" bIns="0">
            <a:spAutoFit/>
          </a:bodyPr>
          <a:lstStyle/>
          <a:p>
            <a:pPr algn="ctr"/>
            <a:r>
              <a:rPr sz="1500" b="1" i="0">
                <a:solidFill>
                  <a:srgbClr val="FFFFFF"/>
                </a:solidFill>
                <a:latin typeface="Calibri"/>
              </a:rPr>
              <a:t>💡  RECOMMENDATIONS</a:t>
            </a:r>
          </a:p>
        </p:txBody>
      </p:sp>
      <p:sp>
        <p:nvSpPr>
          <p:cNvPr id="16" name="Rectangle 15"/>
          <p:cNvSpPr/>
          <p:nvPr/>
        </p:nvSpPr>
        <p:spPr>
          <a:xfrm>
            <a:off x="8092440" y="2011680"/>
            <a:ext cx="3611880" cy="457200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2194560"/>
            <a:ext cx="3282696" cy="4251960"/>
          </a:xfrm>
          <a:prstGeom prst="rect">
            <a:avLst/>
          </a:prstGeom>
          <a:noFill/>
        </p:spPr>
        <p:txBody>
          <a:bodyPr wrap="square" anchor="t" lIns="0" rIns="0">
            <a:spAutoFit/>
          </a:bodyPr>
          <a:lstStyle/>
          <a:p>
            <a:pPr marL="0" indent="0">
              <a:spcAft>
                <a:spcPts val="900"/>
              </a:spcAft>
            </a:pPr>
            <a:r>
              <a:rPr sz="1250" b="0">
                <a:solidFill>
                  <a:srgbClr val="222B38"/>
                </a:solidFill>
                <a:latin typeface="Calibri"/>
              </a:rPr>
              <a:t>•  High: encrypt the local database at rest (SQLCipher or equivalent Drift-compatible backend)</a:t>
            </a:r>
          </a:p>
          <a:p>
            <a:pPr marL="0" indent="0">
              <a:spcAft>
                <a:spcPts val="900"/>
              </a:spcAft>
            </a:pPr>
            <a:r>
              <a:rPr sz="1250" b="0">
                <a:solidFill>
                  <a:srgbClr val="222B38"/>
                </a:solidFill>
                <a:latin typeface="Calibri"/>
              </a:rPr>
              <a:t>•  High: enable R8/ProGuard minification with Flutter/Dart keep rules for release builds</a:t>
            </a:r>
          </a:p>
          <a:p>
            <a:pPr marL="0" indent="0">
              <a:spcAft>
                <a:spcPts val="900"/>
              </a:spcAft>
            </a:pPr>
            <a:r>
              <a:rPr sz="1250" b="0">
                <a:solidFill>
                  <a:srgbClr val="222B38"/>
                </a:solidFill>
                <a:latin typeface="Calibri"/>
              </a:rPr>
              <a:t>•  Medium: certificate pinning for the production DHIS2 host</a:t>
            </a:r>
          </a:p>
          <a:p>
            <a:pPr marL="0" indent="0">
              <a:spcAft>
                <a:spcPts val="900"/>
              </a:spcAft>
            </a:pPr>
            <a:r>
              <a:rPr sz="1250" b="0">
                <a:solidFill>
                  <a:srgbClr val="222B38"/>
                </a:solidFill>
                <a:latin typeface="Calibri"/>
              </a:rPr>
              <a:t>•  Medium: explicitly set android:allowBackup="false" for health data</a:t>
            </a:r>
          </a:p>
          <a:p>
            <a:pPr marL="0" indent="0">
              <a:spcAft>
                <a:spcPts val="900"/>
              </a:spcAft>
            </a:pPr>
            <a:r>
              <a:rPr sz="1250" b="0">
                <a:solidFill>
                  <a:srgbClr val="222B38"/>
                </a:solidFill>
                <a:latin typeface="Calibri"/>
              </a:rPr>
              <a:t>•  Future: move to OAuth2/PAT tokens when the DHIS2 deployment supports it; add biometric app-lock</a:t>
            </a:r>
          </a:p>
        </p:txBody>
      </p:sp>
      <p:sp>
        <p:nvSpPr>
          <p:cNvPr id="18" name="TextBox 17"/>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19" name="TextBox 18"/>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CODE QUALITY &amp; TESTING</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Maintainable, Mostly Well-Tested, With Known Gaps</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200"/>
              </a:spcAft>
            </a:pPr>
            <a:r>
              <a:rPr sz="1500" b="0">
                <a:solidFill>
                  <a:srgbClr val="222B38"/>
                </a:solidFill>
                <a:latin typeface="Calibri"/>
              </a:rPr>
              <a:t>▸  118 Dart files, ~32,000 lines of production code — Clean Architecture separation verified by direct import inspection, not assumed.</a:t>
            </a:r>
          </a:p>
          <a:p>
            <a:pPr marL="0" indent="0">
              <a:spcAft>
                <a:spcPts val="1200"/>
              </a:spcAft>
            </a:pPr>
            <a:r>
              <a:rPr sz="1500" b="0">
                <a:solidFill>
                  <a:srgbClr val="222B38"/>
                </a:solidFill>
                <a:latin typeface="Calibri"/>
              </a:rPr>
              <a:t>▸  SOLID: strong single-responsibility and interface segregation — repository interfaces stay small and focused (4–6 methods each).</a:t>
            </a:r>
          </a:p>
          <a:p>
            <a:pPr marL="0" indent="0">
              <a:spcAft>
                <a:spcPts val="1200"/>
              </a:spcAft>
            </a:pPr>
            <a:r>
              <a:rPr sz="1500" b="0">
                <a:solidFill>
                  <a:srgbClr val="222B38"/>
                </a:solidFill>
                <a:latin typeface="Calibri"/>
              </a:rPr>
              <a:t>▸  flutter_lints active; flutter analyze gates every push and pull request to main in CI — a red CI blocks merging.</a:t>
            </a:r>
          </a:p>
          <a:p>
            <a:pPr marL="0" indent="0">
              <a:spcAft>
                <a:spcPts val="1200"/>
              </a:spcAft>
            </a:pPr>
            <a:r>
              <a:rPr sz="1500" b="0">
                <a:solidFill>
                  <a:srgbClr val="222B38"/>
                </a:solidFill>
                <a:latin typeface="Calibri"/>
              </a:rPr>
              <a:t>▸  Testing: 11 test files, ~1,450 lines. Strong coverage of the offline-critical core — data value sync, conflict resolution, completeness, Ethiopian calendar, Drift roundtrips — run against an in-memory database, no live server needed.</a:t>
            </a:r>
          </a:p>
          <a:p>
            <a:pPr marL="0" indent="0">
              <a:spcAft>
                <a:spcPts val="1200"/>
              </a:spcAft>
            </a:pPr>
            <a:r>
              <a:rPr sz="1500" b="0">
                <a:solidFill>
                  <a:srgbClr val="222B38"/>
                </a:solidFill>
                <a:latin typeface="Calibri"/>
              </a:rPr>
              <a:t>▸  Gap, stated plainly: Bloc and widget/UI layers have little dedicated test coverage today.</a:t>
            </a:r>
          </a:p>
          <a:p>
            <a:pPr marL="0" indent="0">
              <a:spcAft>
                <a:spcPts val="1200"/>
              </a:spcAft>
            </a:pPr>
            <a:r>
              <a:rPr sz="1500" b="0">
                <a:solidFill>
                  <a:srgbClr val="222B38"/>
                </a:solidFill>
                <a:latin typeface="Calibri"/>
              </a:rPr>
              <a:t>▸  A few large presentation files (e.g. the data entry page, ~780 lines) are reasonable near-term refactor targets, not defects.</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PERFORMANCE</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Built for Modest Devices on Weak Connections</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400"/>
              </a:spcAft>
            </a:pPr>
            <a:r>
              <a:rPr sz="1600" b="0">
                <a:solidFill>
                  <a:srgbClr val="222B38"/>
                </a:solidFill>
                <a:latin typeface="Calibri"/>
              </a:rPr>
              <a:t>▸  Lazy-loaded org unit tree — never loads the full ~38,000-unit national hierarchy at once, only expands nodes the user opens.</a:t>
            </a:r>
          </a:p>
          <a:p>
            <a:pPr marL="0" indent="0">
              <a:spcAft>
                <a:spcPts val="1400"/>
              </a:spcAft>
            </a:pPr>
            <a:r>
              <a:rPr sz="1600" b="0">
                <a:solidFill>
                  <a:srgbClr val="222B38"/>
                </a:solidFill>
                <a:latin typeface="Calibri"/>
              </a:rPr>
              <a:t>▸  Metadata sync is scoped to the logged-in user's own org-unit subtree, keeping the local database small and first-login sync fast.</a:t>
            </a:r>
          </a:p>
          <a:p>
            <a:pPr marL="0" indent="0">
              <a:spcAft>
                <a:spcPts val="1400"/>
              </a:spcAft>
            </a:pPr>
            <a:r>
              <a:rPr sz="1600" b="0">
                <a:solidFill>
                  <a:srgbClr val="222B38"/>
                </a:solidFill>
                <a:latin typeface="Calibri"/>
              </a:rPr>
              <a:t>▸  Background JSON decoding (Dio's BackgroundTransformer) keeps large API responses off the UI thread.</a:t>
            </a:r>
          </a:p>
          <a:p>
            <a:pPr marL="0" indent="0">
              <a:spcAft>
                <a:spcPts val="1400"/>
              </a:spcAft>
            </a:pPr>
            <a:r>
              <a:rPr sz="1600" b="0">
                <a:solidFill>
                  <a:srgbClr val="222B38"/>
                </a:solidFill>
                <a:latin typeface="Calibri"/>
              </a:rPr>
              <a:t>▸  Bulk sync batching at 500 values per request avoids oversized requests on flaky field connections, with per-batch retry.</a:t>
            </a:r>
          </a:p>
          <a:p>
            <a:pPr marL="0" indent="0">
              <a:spcAft>
                <a:spcPts val="1400"/>
              </a:spcAft>
            </a:pPr>
            <a:r>
              <a:rPr sz="1600" b="0">
                <a:solidFill>
                  <a:srgbClr val="222B38"/>
                </a:solidFill>
                <a:latin typeface="Calibri"/>
              </a:rPr>
              <a:t>▸  Each dashboard chart queries analytics independently — one slow chart never blocks the rest of the dashboard.</a:t>
            </a:r>
          </a:p>
          <a:p>
            <a:pPr marL="0" indent="0">
              <a:spcAft>
                <a:spcPts val="1400"/>
              </a:spcAft>
            </a:pPr>
            <a:r>
              <a:rPr sz="1600" b="0">
                <a:solidFill>
                  <a:srgbClr val="222B38"/>
                </a:solidFill>
                <a:latin typeface="Calibri"/>
              </a:rPr>
              <a:t>▸  WAL journal mode on SQLite allows concurrent read/write without blocking the UI.</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USER EXPERIENCE</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Always-Visible State, Never a Silent Failure</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400"/>
              </a:spcAft>
            </a:pPr>
            <a:r>
              <a:rPr sz="1600" b="0">
                <a:solidFill>
                  <a:srgbClr val="222B38"/>
                </a:solidFill>
                <a:latin typeface="Calibri"/>
              </a:rPr>
              <a:t>▸  Home screen: a single toggle between Visualization (dashboards) and Capture (data entry) — one mental model for both jobs.</a:t>
            </a:r>
          </a:p>
          <a:p>
            <a:pPr marL="0" indent="0">
              <a:spcAft>
                <a:spcPts val="1400"/>
              </a:spcAft>
            </a:pPr>
            <a:r>
              <a:rPr sz="1600" b="0">
                <a:solidFill>
                  <a:srgbClr val="222B38"/>
                </a:solidFill>
                <a:latin typeface="Calibri"/>
              </a:rPr>
              <a:t>▸  Sync state is visible everywhere: connectivity indicator, sync snackbar with the exact outcome, red 'unsynced' chips per dataset.</a:t>
            </a:r>
          </a:p>
          <a:p>
            <a:pPr marL="0" indent="0">
              <a:spcAft>
                <a:spcPts val="1400"/>
              </a:spcAft>
            </a:pPr>
            <a:r>
              <a:rPr sz="1600" b="0">
                <a:solidFill>
                  <a:srgbClr val="222B38"/>
                </a:solidFill>
                <a:latin typeface="Calibri"/>
              </a:rPr>
              <a:t>▸  Rejected values are highlighted red in the form with DHIS2's own conflict reason, editable in place.</a:t>
            </a:r>
          </a:p>
          <a:p>
            <a:pPr marL="0" indent="0">
              <a:spcAft>
                <a:spcPts val="1400"/>
              </a:spcAft>
            </a:pPr>
            <a:r>
              <a:rPr sz="1600" b="0">
                <a:solidFill>
                  <a:srgbClr val="222B38"/>
                </a:solidFill>
                <a:latin typeface="Calibri"/>
              </a:rPr>
              <a:t>▸  Filters: date window, organisation unit (typed search or full-page tree picker), and sync state.</a:t>
            </a:r>
          </a:p>
          <a:p>
            <a:pPr marL="0" indent="0">
              <a:spcAft>
                <a:spcPts val="1400"/>
              </a:spcAft>
            </a:pPr>
            <a:r>
              <a:rPr sz="1600" b="0">
                <a:solidFill>
                  <a:srgbClr val="222B38"/>
                </a:solidFill>
                <a:latin typeface="Calibri"/>
              </a:rPr>
              <a:t>▸  Ethiopian calendar-native period pickers — matches how Ethiopian health staff already think about time.</a:t>
            </a:r>
          </a:p>
          <a:p>
            <a:pPr marL="0" indent="0">
              <a:spcAft>
                <a:spcPts val="1400"/>
              </a:spcAft>
            </a:pPr>
            <a:r>
              <a:rPr sz="1600" b="0">
                <a:solidFill>
                  <a:srgbClr val="222B38"/>
                </a:solidFill>
                <a:latin typeface="Calibri"/>
              </a:rPr>
              <a:t>▸  Material Design components throughout, with a shared AppLoader and consistent error surfacing.</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FEATURE INVENTORY</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What's Shipped Today</a:t>
            </a:r>
          </a:p>
        </p:txBody>
      </p:sp>
      <p:sp>
        <p:nvSpPr>
          <p:cNvPr id="6" name="TextBox 5"/>
          <p:cNvSpPr txBox="1"/>
          <p:nvPr/>
        </p:nvSpPr>
        <p:spPr>
          <a:xfrm>
            <a:off x="502920" y="1645920"/>
            <a:ext cx="5989320" cy="4846320"/>
          </a:xfrm>
          <a:prstGeom prst="rect">
            <a:avLst/>
          </a:prstGeom>
          <a:noFill/>
        </p:spPr>
        <p:txBody>
          <a:bodyPr wrap="square" anchor="t" lIns="0" rIns="0">
            <a:spAutoFit/>
          </a:bodyPr>
          <a:lstStyle/>
          <a:p>
            <a:pPr marL="0" indent="0">
              <a:spcAft>
                <a:spcPts val="1100"/>
              </a:spcAft>
            </a:pPr>
            <a:r>
              <a:rPr sz="1400" b="0">
                <a:solidFill>
                  <a:srgbClr val="222B38"/>
                </a:solidFill>
                <a:latin typeface="Calibri"/>
              </a:rPr>
              <a:t>▸  Online &amp; offline login</a:t>
            </a:r>
          </a:p>
          <a:p>
            <a:pPr marL="0" indent="0">
              <a:spcAft>
                <a:spcPts val="1100"/>
              </a:spcAft>
            </a:pPr>
            <a:r>
              <a:rPr sz="1400" b="0">
                <a:solidFill>
                  <a:srgbClr val="222B38"/>
                </a:solidFill>
                <a:latin typeface="Calibri"/>
              </a:rPr>
              <a:t>▸  Logout with full session/local cleanup</a:t>
            </a:r>
          </a:p>
          <a:p>
            <a:pPr marL="0" indent="0">
              <a:spcAft>
                <a:spcPts val="1100"/>
              </a:spcAft>
            </a:pPr>
            <a:r>
              <a:rPr sz="1400" b="0">
                <a:solidFill>
                  <a:srgbClr val="222B38"/>
                </a:solidFill>
                <a:latin typeface="Calibri"/>
              </a:rPr>
              <a:t>▸  Home shell — Capture / Visualization toggle</a:t>
            </a:r>
          </a:p>
          <a:p>
            <a:pPr marL="0" indent="0">
              <a:spcAft>
                <a:spcPts val="1100"/>
              </a:spcAft>
            </a:pPr>
            <a:r>
              <a:rPr sz="1400" b="0">
                <a:solidFill>
                  <a:srgbClr val="222B38"/>
                </a:solidFill>
                <a:latin typeface="Calibri"/>
              </a:rPr>
              <a:t>▸  Org unit tree capture flow (lazy-loaded)</a:t>
            </a:r>
          </a:p>
          <a:p>
            <a:pPr marL="0" indent="0">
              <a:spcAft>
                <a:spcPts val="1100"/>
              </a:spcAft>
            </a:pPr>
            <a:r>
              <a:rPr sz="1400" b="0">
                <a:solidFill>
                  <a:srgbClr val="222B38"/>
                </a:solidFill>
                <a:latin typeface="Calibri"/>
              </a:rPr>
              <a:t>▸  Dataset → section → period → entry form</a:t>
            </a:r>
          </a:p>
          <a:p>
            <a:pPr marL="0" indent="0">
              <a:spcAft>
                <a:spcPts val="1100"/>
              </a:spcAft>
            </a:pPr>
            <a:r>
              <a:rPr sz="1400" b="0">
                <a:solidFill>
                  <a:srgbClr val="222B38"/>
                </a:solidFill>
                <a:latin typeface="Calibri"/>
              </a:rPr>
              <a:t>▸  Draft → Complete data entry workflow</a:t>
            </a:r>
          </a:p>
          <a:p>
            <a:pPr marL="0" indent="0">
              <a:spcAft>
                <a:spcPts val="1100"/>
              </a:spcAft>
            </a:pPr>
            <a:r>
              <a:rPr sz="1400" b="0">
                <a:solidFill>
                  <a:srgbClr val="222B38"/>
                </a:solidFill>
                <a:latin typeface="Calibri"/>
              </a:rPr>
              <a:t>▸  Client-side value &amp; option-set validation</a:t>
            </a:r>
          </a:p>
          <a:p>
            <a:pPr marL="0" indent="0">
              <a:spcAft>
                <a:spcPts val="1100"/>
              </a:spcAft>
            </a:pPr>
            <a:r>
              <a:rPr sz="1400" b="0">
                <a:solidFill>
                  <a:srgbClr val="222B38"/>
                </a:solidFill>
                <a:latin typeface="Calibri"/>
              </a:rPr>
              <a:t>▸  Offline data entry &amp; durable local storage</a:t>
            </a:r>
          </a:p>
        </p:txBody>
      </p:sp>
      <p:sp>
        <p:nvSpPr>
          <p:cNvPr id="7" name="TextBox 6"/>
          <p:cNvSpPr txBox="1"/>
          <p:nvPr/>
        </p:nvSpPr>
        <p:spPr>
          <a:xfrm>
            <a:off x="5669280" y="1645920"/>
            <a:ext cx="5989320" cy="4846320"/>
          </a:xfrm>
          <a:prstGeom prst="rect">
            <a:avLst/>
          </a:prstGeom>
          <a:noFill/>
        </p:spPr>
        <p:txBody>
          <a:bodyPr wrap="square" anchor="t" lIns="0" rIns="0">
            <a:spAutoFit/>
          </a:bodyPr>
          <a:lstStyle/>
          <a:p>
            <a:pPr marL="0" indent="0">
              <a:spcAft>
                <a:spcPts val="1100"/>
              </a:spcAft>
            </a:pPr>
            <a:r>
              <a:rPr sz="1400" b="0">
                <a:solidFill>
                  <a:srgbClr val="222B38"/>
                </a:solidFill>
                <a:latin typeface="Calibri"/>
              </a:rPr>
              <a:t>▸  Metadata sync — full (first login) + delta</a:t>
            </a:r>
          </a:p>
          <a:p>
            <a:pPr marL="0" indent="0">
              <a:spcAft>
                <a:spcPts val="1100"/>
              </a:spcAft>
            </a:pPr>
            <a:r>
              <a:rPr sz="1400" b="0">
                <a:solidFill>
                  <a:srgbClr val="222B38"/>
                </a:solidFill>
                <a:latin typeface="Calibri"/>
              </a:rPr>
              <a:t>▸  Automatic background sync (3 triggers)</a:t>
            </a:r>
          </a:p>
          <a:p>
            <a:pPr marL="0" indent="0">
              <a:spcAft>
                <a:spcPts val="1100"/>
              </a:spcAft>
            </a:pPr>
            <a:r>
              <a:rPr sz="1400" b="0">
                <a:solidFill>
                  <a:srgbClr val="222B38"/>
                </a:solidFill>
                <a:latin typeface="Calibri"/>
              </a:rPr>
              <a:t>▸  Manual sync with exact outcome reporting</a:t>
            </a:r>
          </a:p>
          <a:p>
            <a:pPr marL="0" indent="0">
              <a:spcAft>
                <a:spcPts val="1100"/>
              </a:spcAft>
            </a:pPr>
            <a:r>
              <a:rPr sz="1400" b="0">
                <a:solidFill>
                  <a:srgbClr val="222B38"/>
                </a:solidFill>
                <a:latin typeface="Calibri"/>
              </a:rPr>
              <a:t>▸  Conflict resolution engine</a:t>
            </a:r>
          </a:p>
          <a:p>
            <a:pPr marL="0" indent="0">
              <a:spcAft>
                <a:spcPts val="1100"/>
              </a:spcAft>
            </a:pPr>
            <a:r>
              <a:rPr sz="1400" b="0">
                <a:solidFill>
                  <a:srgbClr val="222B38"/>
                </a:solidFill>
                <a:latin typeface="Calibri"/>
              </a:rPr>
              <a:t>▸  Server-rejection handling with reason display</a:t>
            </a:r>
          </a:p>
          <a:p>
            <a:pPr marL="0" indent="0">
              <a:spcAft>
                <a:spcPts val="1100"/>
              </a:spcAft>
            </a:pPr>
            <a:r>
              <a:rPr sz="1400" b="0">
                <a:solidFill>
                  <a:srgbClr val="222B38"/>
                </a:solidFill>
                <a:latin typeface="Calibri"/>
              </a:rPr>
              <a:t>▸  Settings — server URL, profile, logout</a:t>
            </a:r>
          </a:p>
          <a:p>
            <a:pPr marL="0" indent="0">
              <a:spcAft>
                <a:spcPts val="1100"/>
              </a:spcAft>
            </a:pPr>
            <a:r>
              <a:rPr sz="1400" b="0">
                <a:solidFill>
                  <a:srgbClr val="222B38"/>
                </a:solidFill>
                <a:latin typeface="Calibri"/>
              </a:rPr>
              <a:t>▸  Report Period view (cross-org-unit tracking)</a:t>
            </a:r>
          </a:p>
          <a:p>
            <a:pPr marL="0" indent="0">
              <a:spcAft>
                <a:spcPts val="1100"/>
              </a:spcAft>
            </a:pPr>
            <a:r>
              <a:rPr sz="1400" b="0">
                <a:solidFill>
                  <a:srgbClr val="222B38"/>
                </a:solidFill>
                <a:latin typeface="Calibri"/>
              </a:rPr>
              <a:t>▸  DHIS2 dashboards — native charts (fl_chart, online)</a:t>
            </a:r>
          </a:p>
        </p:txBody>
      </p:sp>
      <p:sp>
        <p:nvSpPr>
          <p:cNvPr id="8" name="TextBox 7"/>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9" name="TextBox 8"/>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FUTURE ROADMAP</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Prioritized, Time-Phased Recommendations</a:t>
            </a:r>
          </a:p>
        </p:txBody>
      </p:sp>
      <p:sp>
        <p:nvSpPr>
          <p:cNvPr id="6" name="Rectangle 5"/>
          <p:cNvSpPr/>
          <p:nvPr/>
        </p:nvSpPr>
        <p:spPr>
          <a:xfrm>
            <a:off x="502920" y="1600200"/>
            <a:ext cx="3611880" cy="502920"/>
          </a:xfrm>
          <a:prstGeom prst="rect">
            <a:avLst/>
          </a:prstGeom>
          <a:solidFill>
            <a:srgbClr val="C6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00200"/>
            <a:ext cx="3611880" cy="502920"/>
          </a:xfrm>
          <a:prstGeom prst="rect">
            <a:avLst/>
          </a:prstGeom>
          <a:noFill/>
        </p:spPr>
        <p:txBody>
          <a:bodyPr wrap="square" anchor="ctr" lIns="0" rIns="0" tIns="0" bIns="0">
            <a:spAutoFit/>
          </a:bodyPr>
          <a:lstStyle/>
          <a:p>
            <a:pPr algn="ctr"/>
            <a:r>
              <a:rPr sz="1600" b="1" i="0">
                <a:solidFill>
                  <a:srgbClr val="FFFFFF"/>
                </a:solidFill>
                <a:latin typeface="Calibri"/>
              </a:rPr>
              <a:t>NOW</a:t>
            </a:r>
          </a:p>
        </p:txBody>
      </p:sp>
      <p:sp>
        <p:nvSpPr>
          <p:cNvPr id="8" name="Rectangle 7"/>
          <p:cNvSpPr/>
          <p:nvPr/>
        </p:nvSpPr>
        <p:spPr>
          <a:xfrm>
            <a:off x="502920" y="2103120"/>
            <a:ext cx="3611880" cy="461772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286000"/>
            <a:ext cx="3282696" cy="4297680"/>
          </a:xfrm>
          <a:prstGeom prst="rect">
            <a:avLst/>
          </a:prstGeom>
          <a:noFill/>
        </p:spPr>
        <p:txBody>
          <a:bodyPr wrap="square" anchor="t" lIns="0" rIns="0">
            <a:spAutoFit/>
          </a:bodyPr>
          <a:lstStyle/>
          <a:p>
            <a:pPr marL="0" indent="0">
              <a:spcAft>
                <a:spcPts val="1000"/>
              </a:spcAft>
            </a:pPr>
            <a:r>
              <a:rPr sz="1200" b="0">
                <a:solidFill>
                  <a:srgbClr val="222B38"/>
                </a:solidFill>
                <a:latin typeface="Calibri"/>
              </a:rPr>
              <a:t>•  Encrypt local database at rest (SQLCipher)</a:t>
            </a:r>
          </a:p>
          <a:p>
            <a:pPr marL="0" indent="0">
              <a:spcAft>
                <a:spcPts val="1000"/>
              </a:spcAft>
            </a:pPr>
            <a:r>
              <a:rPr sz="1200" b="0">
                <a:solidFill>
                  <a:srgbClr val="222B38"/>
                </a:solidFill>
                <a:latin typeface="Calibri"/>
              </a:rPr>
              <a:t>•  Enable R8/ProGuard minification</a:t>
            </a:r>
          </a:p>
          <a:p>
            <a:pPr marL="0" indent="0">
              <a:spcAft>
                <a:spcPts val="1000"/>
              </a:spcAft>
            </a:pPr>
            <a:r>
              <a:rPr sz="1200" b="0">
                <a:solidFill>
                  <a:srgbClr val="222B38"/>
                </a:solidFill>
                <a:latin typeface="Calibri"/>
              </a:rPr>
              <a:t>•  Certificate pinning for production host</a:t>
            </a:r>
          </a:p>
          <a:p>
            <a:pPr marL="0" indent="0">
              <a:spcAft>
                <a:spcPts val="1000"/>
              </a:spcAft>
            </a:pPr>
            <a:r>
              <a:rPr sz="1200" b="0">
                <a:solidFill>
                  <a:srgbClr val="222B38"/>
                </a:solidFill>
                <a:latin typeface="Calibri"/>
              </a:rPr>
              <a:t>•  Set android:allowBackup="false"</a:t>
            </a:r>
          </a:p>
        </p:txBody>
      </p:sp>
      <p:sp>
        <p:nvSpPr>
          <p:cNvPr id="10" name="Rectangle 9"/>
          <p:cNvSpPr/>
          <p:nvPr/>
        </p:nvSpPr>
        <p:spPr>
          <a:xfrm>
            <a:off x="4297680" y="1600200"/>
            <a:ext cx="3611880" cy="50292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600200"/>
            <a:ext cx="3611880" cy="502920"/>
          </a:xfrm>
          <a:prstGeom prst="rect">
            <a:avLst/>
          </a:prstGeom>
          <a:noFill/>
        </p:spPr>
        <p:txBody>
          <a:bodyPr wrap="square" anchor="ctr" lIns="0" rIns="0" tIns="0" bIns="0">
            <a:spAutoFit/>
          </a:bodyPr>
          <a:lstStyle/>
          <a:p>
            <a:pPr algn="ctr"/>
            <a:r>
              <a:rPr sz="1600" b="1" i="0">
                <a:solidFill>
                  <a:srgbClr val="FFFFFF"/>
                </a:solidFill>
                <a:latin typeface="Calibri"/>
              </a:rPr>
              <a:t>NEXT</a:t>
            </a:r>
          </a:p>
        </p:txBody>
      </p:sp>
      <p:sp>
        <p:nvSpPr>
          <p:cNvPr id="12" name="Rectangle 11"/>
          <p:cNvSpPr/>
          <p:nvPr/>
        </p:nvSpPr>
        <p:spPr>
          <a:xfrm>
            <a:off x="4297680" y="2103120"/>
            <a:ext cx="3611880" cy="461772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2286000"/>
            <a:ext cx="3282696" cy="4297680"/>
          </a:xfrm>
          <a:prstGeom prst="rect">
            <a:avLst/>
          </a:prstGeom>
          <a:noFill/>
        </p:spPr>
        <p:txBody>
          <a:bodyPr wrap="square" anchor="t" lIns="0" rIns="0">
            <a:spAutoFit/>
          </a:bodyPr>
          <a:lstStyle/>
          <a:p>
            <a:pPr marL="0" indent="0">
              <a:spcAft>
                <a:spcPts val="1000"/>
              </a:spcAft>
            </a:pPr>
            <a:r>
              <a:rPr sz="1200" b="0">
                <a:solidFill>
                  <a:srgbClr val="222B38"/>
                </a:solidFill>
                <a:latin typeface="Calibri"/>
              </a:rPr>
              <a:t>•  Offline caching for dashboards/analytics</a:t>
            </a:r>
          </a:p>
          <a:p>
            <a:pPr marL="0" indent="0">
              <a:spcAft>
                <a:spcPts val="1000"/>
              </a:spcAft>
            </a:pPr>
            <a:r>
              <a:rPr sz="1200" b="0">
                <a:solidFill>
                  <a:srgbClr val="222B38"/>
                </a:solidFill>
                <a:latin typeface="Calibri"/>
              </a:rPr>
              <a:t>•  Bloc &amp; widget test coverage</a:t>
            </a:r>
          </a:p>
          <a:p>
            <a:pPr marL="0" indent="0">
              <a:spcAft>
                <a:spcPts val="1000"/>
              </a:spcAft>
            </a:pPr>
            <a:r>
              <a:rPr sz="1200" b="0">
                <a:solidFill>
                  <a:srgbClr val="222B38"/>
                </a:solidFill>
                <a:latin typeface="Calibri"/>
              </a:rPr>
              <a:t>•  get_it-based dependency injection</a:t>
            </a:r>
          </a:p>
          <a:p>
            <a:pPr marL="0" indent="0">
              <a:spcAft>
                <a:spcPts val="1000"/>
              </a:spcAft>
            </a:pPr>
            <a:r>
              <a:rPr sz="1200" b="0">
                <a:solidFill>
                  <a:srgbClr val="222B38"/>
                </a:solidFill>
                <a:latin typeface="Calibri"/>
              </a:rPr>
              <a:t>•  Formal Drift schema migration framework</a:t>
            </a:r>
          </a:p>
        </p:txBody>
      </p:sp>
      <p:sp>
        <p:nvSpPr>
          <p:cNvPr id="14" name="Rectangle 13"/>
          <p:cNvSpPr/>
          <p:nvPr/>
        </p:nvSpPr>
        <p:spPr>
          <a:xfrm>
            <a:off x="8092440" y="1600200"/>
            <a:ext cx="3611880" cy="502920"/>
          </a:xfrm>
          <a:prstGeom prst="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600200"/>
            <a:ext cx="3611880" cy="502920"/>
          </a:xfrm>
          <a:prstGeom prst="rect">
            <a:avLst/>
          </a:prstGeom>
          <a:noFill/>
        </p:spPr>
        <p:txBody>
          <a:bodyPr wrap="square" anchor="ctr" lIns="0" rIns="0" tIns="0" bIns="0">
            <a:spAutoFit/>
          </a:bodyPr>
          <a:lstStyle/>
          <a:p>
            <a:pPr algn="ctr"/>
            <a:r>
              <a:rPr sz="1600" b="1" i="0">
                <a:solidFill>
                  <a:srgbClr val="FFFFFF"/>
                </a:solidFill>
                <a:latin typeface="Calibri"/>
              </a:rPr>
              <a:t>LATER</a:t>
            </a:r>
          </a:p>
        </p:txBody>
      </p:sp>
      <p:sp>
        <p:nvSpPr>
          <p:cNvPr id="16" name="Rectangle 15"/>
          <p:cNvSpPr/>
          <p:nvPr/>
        </p:nvSpPr>
        <p:spPr>
          <a:xfrm>
            <a:off x="8092440" y="2103120"/>
            <a:ext cx="3611880" cy="4617720"/>
          </a:xfrm>
          <a:prstGeom prst="rect">
            <a:avLst/>
          </a:prstGeom>
          <a:solidFill>
            <a:srgbClr val="F4F7FA"/>
          </a:solidFill>
          <a:ln w="9525">
            <a:solidFill>
              <a:srgbClr val="D8D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2286000"/>
            <a:ext cx="3282696" cy="4297680"/>
          </a:xfrm>
          <a:prstGeom prst="rect">
            <a:avLst/>
          </a:prstGeom>
          <a:noFill/>
        </p:spPr>
        <p:txBody>
          <a:bodyPr wrap="square" anchor="t" lIns="0" rIns="0">
            <a:spAutoFit/>
          </a:bodyPr>
          <a:lstStyle/>
          <a:p>
            <a:pPr marL="0" indent="0">
              <a:spcAft>
                <a:spcPts val="1000"/>
              </a:spcAft>
            </a:pPr>
            <a:r>
              <a:rPr sz="1200" b="0">
                <a:solidFill>
                  <a:srgbClr val="222B38"/>
                </a:solidFill>
                <a:latin typeface="Calibri"/>
              </a:rPr>
              <a:t>•  Biometric app-lock</a:t>
            </a:r>
          </a:p>
          <a:p>
            <a:pPr marL="0" indent="0">
              <a:spcAft>
                <a:spcPts val="1000"/>
              </a:spcAft>
            </a:pPr>
            <a:r>
              <a:rPr sz="1200" b="0">
                <a:solidFill>
                  <a:srgbClr val="222B38"/>
                </a:solidFill>
                <a:latin typeface="Calibri"/>
              </a:rPr>
              <a:t>•  Push notifications for sync results</a:t>
            </a:r>
          </a:p>
          <a:p>
            <a:pPr marL="0" indent="0">
              <a:spcAft>
                <a:spcPts val="1000"/>
              </a:spcAft>
            </a:pPr>
            <a:r>
              <a:rPr sz="1200" b="0">
                <a:solidFill>
                  <a:srgbClr val="222B38"/>
                </a:solidFill>
                <a:latin typeface="Calibri"/>
              </a:rPr>
              <a:t>•  Crash &amp; performance monitoring (Crashlytics/Sentry)</a:t>
            </a:r>
          </a:p>
          <a:p>
            <a:pPr marL="0" indent="0">
              <a:spcAft>
                <a:spcPts val="1000"/>
              </a:spcAft>
            </a:pPr>
            <a:r>
              <a:rPr sz="1200" b="0">
                <a:solidFill>
                  <a:srgbClr val="222B38"/>
                </a:solidFill>
                <a:latin typeface="Calibri"/>
              </a:rPr>
              <a:t>•  Role-based dashboards, audit log, OAuth2/PAT auth</a:t>
            </a:r>
          </a:p>
          <a:p>
            <a:pPr marL="0" indent="0">
              <a:spcAft>
                <a:spcPts val="1000"/>
              </a:spcAft>
            </a:pPr>
            <a:r>
              <a:rPr sz="1200" b="0">
                <a:solidFill>
                  <a:srgbClr val="222B38"/>
                </a:solidFill>
                <a:latin typeface="Calibri"/>
              </a:rPr>
              <a:t>•  Multi-language: Amharic, Afaan Oromo, Tigrinya</a:t>
            </a:r>
          </a:p>
        </p:txBody>
      </p:sp>
      <p:sp>
        <p:nvSpPr>
          <p:cNvPr id="18" name="TextBox 17"/>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19" name="TextBox 18"/>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44450"/>
          </a:xfrm>
          <a:prstGeom prst="rect">
            <a:avLst/>
          </a:prstGeom>
          <a:solidFill>
            <a:srgbClr val="13A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64592"/>
            <a:ext cx="9144000" cy="274320"/>
          </a:xfrm>
          <a:prstGeom prst="rect">
            <a:avLst/>
          </a:prstGeom>
          <a:noFill/>
        </p:spPr>
        <p:txBody>
          <a:bodyPr wrap="square" anchor="t" lIns="0" rIns="0" tIns="0" bIns="0">
            <a:spAutoFit/>
          </a:bodyPr>
          <a:lstStyle/>
          <a:p>
            <a:pPr algn="l"/>
            <a:r>
              <a:rPr sz="1200" b="1" i="0">
                <a:solidFill>
                  <a:srgbClr val="13A9E0"/>
                </a:solidFill>
                <a:latin typeface="Calibri"/>
              </a:rPr>
              <a:t>CONCLUSION</a:t>
            </a:r>
          </a:p>
        </p:txBody>
      </p:sp>
      <p:sp>
        <p:nvSpPr>
          <p:cNvPr id="5" name="TextBox 4"/>
          <p:cNvSpPr txBox="1"/>
          <p:nvPr/>
        </p:nvSpPr>
        <p:spPr>
          <a:xfrm>
            <a:off x="502920" y="438912"/>
            <a:ext cx="10972800" cy="731520"/>
          </a:xfrm>
          <a:prstGeom prst="rect">
            <a:avLst/>
          </a:prstGeom>
          <a:noFill/>
        </p:spPr>
        <p:txBody>
          <a:bodyPr wrap="square" anchor="t" lIns="0" rIns="0" tIns="0" bIns="0">
            <a:spAutoFit/>
          </a:bodyPr>
          <a:lstStyle/>
          <a:p>
            <a:pPr algn="l"/>
            <a:r>
              <a:rPr sz="3000" b="1" i="0">
                <a:solidFill>
                  <a:srgbClr val="FFFFFF"/>
                </a:solidFill>
                <a:latin typeface="Calibri"/>
              </a:rPr>
              <a:t>Ready for Continued Rollout, With a Clear Path to Harden Further</a:t>
            </a:r>
          </a:p>
        </p:txBody>
      </p:sp>
      <p:sp>
        <p:nvSpPr>
          <p:cNvPr id="6" name="TextBox 5"/>
          <p:cNvSpPr txBox="1"/>
          <p:nvPr/>
        </p:nvSpPr>
        <p:spPr>
          <a:xfrm>
            <a:off x="594360" y="1645920"/>
            <a:ext cx="10972800" cy="4846320"/>
          </a:xfrm>
          <a:prstGeom prst="rect">
            <a:avLst/>
          </a:prstGeom>
          <a:noFill/>
        </p:spPr>
        <p:txBody>
          <a:bodyPr wrap="square" anchor="t" lIns="0" rIns="0">
            <a:spAutoFit/>
          </a:bodyPr>
          <a:lstStyle/>
          <a:p>
            <a:pPr marL="0" indent="0">
              <a:spcAft>
                <a:spcPts val="1700"/>
              </a:spcAft>
            </a:pPr>
            <a:r>
              <a:rPr sz="1700" b="0">
                <a:solidFill>
                  <a:srgbClr val="222B38"/>
                </a:solidFill>
                <a:latin typeface="Calibri"/>
              </a:rPr>
              <a:t>▸  A production-grade, offline-first architecture purpose-built for Ethiopia's real connectivity conditions — not a generic template.</a:t>
            </a:r>
          </a:p>
          <a:p>
            <a:pPr marL="0" indent="0">
              <a:spcAft>
                <a:spcPts val="1700"/>
              </a:spcAft>
            </a:pPr>
            <a:r>
              <a:rPr sz="1700" b="0">
                <a:solidFill>
                  <a:srgbClr val="222B38"/>
                </a:solidFill>
                <a:latin typeface="Calibri"/>
              </a:rPr>
              <a:t>▸  Clean separation of concerns (Presentation / Domain / Data / Core) keeps the app maintainable and extensible as the team and feature set grow.</a:t>
            </a:r>
          </a:p>
          <a:p>
            <a:pPr marL="0" indent="0">
              <a:spcAft>
                <a:spcPts val="1700"/>
              </a:spcAft>
            </a:pPr>
            <a:r>
              <a:rPr sz="1700" b="0">
                <a:solidFill>
                  <a:srgbClr val="222B38"/>
                </a:solidFill>
                <a:latin typeface="Calibri"/>
              </a:rPr>
              <a:t>▸  The offline-sync and conflict-resolution engine — the highest-risk, most field-critical code — has the strongest test coverage in the app.</a:t>
            </a:r>
          </a:p>
          <a:p>
            <a:pPr marL="0" indent="0">
              <a:spcAft>
                <a:spcPts val="1700"/>
              </a:spcAft>
            </a:pPr>
            <a:r>
              <a:rPr sz="1700" b="0">
                <a:solidFill>
                  <a:srgbClr val="222B38"/>
                </a:solidFill>
                <a:latin typeface="Calibri"/>
              </a:rPr>
              <a:t>▸  Security posture is sound for the current pilot scope: credentials are never exposed, transport is encrypted, and every identified gap has a scoped, prioritized fix.</a:t>
            </a:r>
          </a:p>
          <a:p>
            <a:pPr marL="0" indent="0">
              <a:spcAft>
                <a:spcPts val="1700"/>
              </a:spcAft>
            </a:pPr>
            <a:r>
              <a:rPr sz="1700" b="0">
                <a:solidFill>
                  <a:srgbClr val="222B38"/>
                </a:solidFill>
                <a:latin typeface="Calibri"/>
              </a:rPr>
              <a:t>▸  Recommendation: proceed with continued rollout alongside HISP Ethiopia and Ministry review, adopting the NOW-tier security items ahead of national scale-up.</a:t>
            </a:r>
          </a:p>
        </p:txBody>
      </p:sp>
      <p:sp>
        <p:nvSpPr>
          <p:cNvPr id="7" name="TextBox 6"/>
          <p:cNvSpPr txBox="1"/>
          <p:nvPr/>
        </p:nvSpPr>
        <p:spPr>
          <a:xfrm>
            <a:off x="502920" y="6547104"/>
            <a:ext cx="7315200" cy="274320"/>
          </a:xfrm>
          <a:prstGeom prst="rect">
            <a:avLst/>
          </a:prstGeom>
          <a:noFill/>
        </p:spPr>
        <p:txBody>
          <a:bodyPr wrap="square" anchor="t" lIns="0" rIns="0" tIns="0" bIns="0">
            <a:spAutoFit/>
          </a:bodyPr>
          <a:lstStyle/>
          <a:p>
            <a:pPr algn="l"/>
            <a:r>
              <a:rPr sz="900" b="0" i="0">
                <a:solidFill>
                  <a:srgbClr val="5B6675"/>
                </a:solidFill>
                <a:latin typeface="Calibri"/>
              </a:rPr>
              <a:t>HISP Mobile Tracker  |  Ministry of Health Technical Review  |  HISP Ethiopia</a:t>
            </a:r>
          </a:p>
        </p:txBody>
      </p:sp>
      <p:sp>
        <p:nvSpPr>
          <p:cNvPr id="8" name="TextBox 7"/>
          <p:cNvSpPr txBox="1"/>
          <p:nvPr/>
        </p:nvSpPr>
        <p:spPr>
          <a:xfrm>
            <a:off x="11430000" y="6547104"/>
            <a:ext cx="548640" cy="274320"/>
          </a:xfrm>
          <a:prstGeom prst="rect">
            <a:avLst/>
          </a:prstGeom>
          <a:noFill/>
        </p:spPr>
        <p:txBody>
          <a:bodyPr wrap="square" anchor="t" lIns="0" rIns="0" tIns="0" bIns="0">
            <a:spAutoFit/>
          </a:bodyPr>
          <a:lstStyle/>
          <a:p>
            <a:pPr algn="r"/>
            <a:r>
              <a:rPr sz="900" b="0" i="0">
                <a:solidFill>
                  <a:srgbClr val="5B6675"/>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243D"/>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00A6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1097280"/>
          </a:xfrm>
          <a:prstGeom prst="rect">
            <a:avLst/>
          </a:prstGeom>
          <a:noFill/>
        </p:spPr>
        <p:txBody>
          <a:bodyPr wrap="square" anchor="t" lIns="0" rIns="0" tIns="0" bIns="0">
            <a:spAutoFit/>
          </a:bodyPr>
          <a:lstStyle/>
          <a:p>
            <a:pPr algn="l"/>
            <a:r>
              <a:rPr sz="4600" b="1" i="0">
                <a:solidFill>
                  <a:srgbClr val="FFFFFF"/>
                </a:solidFill>
                <a:latin typeface="Calibri"/>
              </a:rPr>
              <a:t>Questions &amp; Discussion</a:t>
            </a:r>
          </a:p>
        </p:txBody>
      </p:sp>
      <p:sp>
        <p:nvSpPr>
          <p:cNvPr id="5" name="Rectangle 4"/>
          <p:cNvSpPr/>
          <p:nvPr/>
        </p:nvSpPr>
        <p:spPr>
          <a:xfrm>
            <a:off x="822960" y="3429000"/>
            <a:ext cx="2377440" cy="3175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840480"/>
            <a:ext cx="9144000" cy="457200"/>
          </a:xfrm>
          <a:prstGeom prst="rect">
            <a:avLst/>
          </a:prstGeom>
          <a:noFill/>
        </p:spPr>
        <p:txBody>
          <a:bodyPr wrap="square" anchor="t" lIns="0" rIns="0" tIns="0" bIns="0">
            <a:spAutoFit/>
          </a:bodyPr>
          <a:lstStyle/>
          <a:p>
            <a:pPr algn="l"/>
            <a:r>
              <a:rPr sz="2000" b="0" i="1">
                <a:solidFill>
                  <a:srgbClr val="13A9E0"/>
                </a:solidFill>
                <a:latin typeface="Calibri"/>
              </a:rPr>
              <a:t>Thank you.</a:t>
            </a:r>
          </a:p>
        </p:txBody>
      </p:sp>
      <p:sp>
        <p:nvSpPr>
          <p:cNvPr id="7" name="TextBox 6"/>
          <p:cNvSpPr txBox="1"/>
          <p:nvPr/>
        </p:nvSpPr>
        <p:spPr>
          <a:xfrm>
            <a:off x="822960" y="5120640"/>
            <a:ext cx="9144000" cy="365760"/>
          </a:xfrm>
          <a:prstGeom prst="rect">
            <a:avLst/>
          </a:prstGeom>
          <a:noFill/>
        </p:spPr>
        <p:txBody>
          <a:bodyPr wrap="square" anchor="t" lIns="0" rIns="0" tIns="0" bIns="0">
            <a:spAutoFit/>
          </a:bodyPr>
          <a:lstStyle/>
          <a:p>
            <a:pPr algn="l"/>
            <a:r>
              <a:rPr sz="1500" b="0" i="0">
                <a:solidFill>
                  <a:srgbClr val="FFFFFF"/>
                </a:solidFill>
                <a:latin typeface="Calibri"/>
              </a:rPr>
              <a:t>HISP Mobile Tracker  —  HISP Ethiopia</a:t>
            </a:r>
          </a:p>
        </p:txBody>
      </p:sp>
      <p:sp>
        <p:nvSpPr>
          <p:cNvPr id="8" name="TextBox 7"/>
          <p:cNvSpPr txBox="1"/>
          <p:nvPr/>
        </p:nvSpPr>
        <p:spPr>
          <a:xfrm>
            <a:off x="822960" y="5486400"/>
            <a:ext cx="9144000" cy="365760"/>
          </a:xfrm>
          <a:prstGeom prst="rect">
            <a:avLst/>
          </a:prstGeom>
          <a:noFill/>
        </p:spPr>
        <p:txBody>
          <a:bodyPr wrap="square" anchor="t" lIns="0" rIns="0" tIns="0" bIns="0">
            <a:spAutoFit/>
          </a:bodyPr>
          <a:lstStyle/>
          <a:p>
            <a:pPr algn="l"/>
            <a:r>
              <a:rPr sz="1300" b="0" i="0">
                <a:solidFill>
                  <a:srgbClr val="00A689"/>
                </a:solidFill>
                <a:latin typeface="Calibri"/>
              </a:rPr>
              <a:t>Prepared by Biruk Mulatu  ·  birukmulatukibret@gmail.com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